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508760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06B6D4"/>
                </a:solidFill>
                <a:latin typeface="Aptos"/>
              </a:defRPr>
            </a:pPr>
            <a:r>
              <a:t>PRESENTATION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057400"/>
            <a:ext cx="97840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Design with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8961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t>A global library of presentation layout archetypes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Editable native PowerPoint layout specimen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CORE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Standard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858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 i="0">
                <a:solidFill>
                  <a:srgbClr val="111827"/>
                </a:solidFill>
                <a:latin typeface="Aptos"/>
              </a:defRPr>
            </a:pPr>
            <a:r>
              <a:t>Lead with the conclusion.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886968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Support it with evidence, examples, and implications. Keep each bullet focused on one idea; use a new slide when the content changes purpose.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420624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114800"/>
            <a:ext cx="8924544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Claim → evidence → implication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773168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681728"/>
            <a:ext cx="8924544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Prefer specific, parallel bullet wording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340096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5248656"/>
            <a:ext cx="8924544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Cite sources for external facts and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CORE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3-Column Card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CORE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Split Frame Hero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One strong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612648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374151"/>
                </a:solidFill>
                <a:latin typeface="Aptos"/>
              </a:defRPr>
            </a:pPr>
            <a:r>
              <a:t>Use the open side for context, evidence, or a short narrative that explains why this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Big Numbers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200" b="1" i="0">
                <a:solidFill>
                  <a:srgbClr val="2563EB"/>
                </a:solidFill>
                <a:latin typeface="Aptos"/>
              </a:defRPr>
            </a:pPr>
            <a:r>
              <a:t>98.6%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111827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05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0" i="0">
                <a:solidFill>
                  <a:srgbClr val="6B7280"/>
                </a:solidFill>
                <a:latin typeface="Aptos"/>
              </a:defRPr>
            </a:pPr>
            <a:r>
              <a:t>vs. baseline /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200" b="1" i="0">
                <a:solidFill>
                  <a:srgbClr val="2563EB"/>
                </a:solidFill>
                <a:latin typeface="Aptos"/>
              </a:defRPr>
            </a:pPr>
            <a:r>
              <a:t>2.4×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2044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111827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005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0" i="0">
                <a:solidFill>
                  <a:srgbClr val="6B7280"/>
                </a:solidFill>
                <a:latin typeface="Aptos"/>
              </a:defRPr>
            </a:pPr>
            <a:r>
              <a:t>vs. baseline /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6888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200" b="1" i="0">
                <a:solidFill>
                  <a:srgbClr val="2563EB"/>
                </a:solidFill>
                <a:latin typeface="Aptos"/>
              </a:defRPr>
            </a:pPr>
            <a:r>
              <a:t>−31%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52044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111827"/>
                </a:solidFill>
                <a:latin typeface="Aptos"/>
              </a:defRPr>
            </a:pPr>
            <a:r>
              <a:t>Cycle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005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0" i="0">
                <a:solidFill>
                  <a:srgbClr val="6B7280"/>
                </a:solidFill>
                <a:latin typeface="Aptos"/>
              </a:defRPr>
            </a:pPr>
            <a:r>
              <a:t>vs. baseline /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PROCESS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Timeline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57600"/>
            <a:ext cx="10241280" cy="411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19" y="35112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Milestone summary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35112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16052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480559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89204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Milestone summary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5112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Milestone summary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5112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160520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480559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89204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Milestone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Data Grid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57400"/>
          <a:ext cx="10469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70"/>
                <a:gridCol w="2617470"/>
                <a:gridCol w="2617470"/>
                <a:gridCol w="2617470"/>
              </a:tblGrid>
              <a:tr h="8115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128016" marR="9144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Volume</a:t>
                      </a:r>
                    </a:p>
                  </a:txBody>
                  <a:tcPr marL="128016" marR="9144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Efficiency</a:t>
                      </a:r>
                    </a:p>
                  </a:txBody>
                  <a:tcPr marL="128016" marR="9144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28016" marR="91440">
                    <a:solidFill>
                      <a:srgbClr val="111827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Core platform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4,500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94%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On track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Experience</a:t>
                      </a:r>
                    </a:p>
                  </a:txBody>
                  <a:tcPr marL="128016" marR="9144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8,900</a:t>
                      </a:r>
                    </a:p>
                  </a:txBody>
                  <a:tcPr marL="128016" marR="9144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98%</a:t>
                      </a:r>
                    </a:p>
                  </a:txBody>
                  <a:tcPr marL="128016" marR="91440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Stable</a:t>
                      </a:r>
                    </a:p>
                  </a:txBody>
                  <a:tcPr marL="128016" marR="91440">
                    <a:solidFill>
                      <a:srgbClr val="EAF1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Delivery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12,100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99%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128016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Two-Column Contrast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2240280"/>
            <a:ext cx="4892040" cy="2971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0947" y="256032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563EB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8" name="Oval 7"/>
          <p:cNvSpPr/>
          <p:nvPr/>
        </p:nvSpPr>
        <p:spPr>
          <a:xfrm>
            <a:off x="118094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0403" y="3246120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18094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0403" y="3776472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18094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0403" y="4306824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7" y="2240280"/>
            <a:ext cx="4892040" cy="297180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5907" y="256032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6" name="Oval 15"/>
          <p:cNvSpPr/>
          <p:nvPr/>
        </p:nvSpPr>
        <p:spPr>
          <a:xfrm>
            <a:off x="657590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5363" y="3246120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657590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5363" y="3776472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7590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5363" y="4306824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EMPHASIS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Key Callout / Quote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24028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286000"/>
            <a:ext cx="886968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1">
                <a:solidFill>
                  <a:srgbClr val="111827"/>
                </a:solidFill>
                <a:latin typeface="Aptos"/>
              </a:defRPr>
            </a:pPr>
            <a:r>
              <a:t>“Clarity is not the absence of detail; it is the result of deliberate hierarchy.”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25196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Aptos"/>
              </a:defRPr>
            </a:pPr>
            <a:r>
              <a:t>— Example attribution /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PROCESS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Process Pipeline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423160"/>
            <a:ext cx="2331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606040"/>
            <a:ext cx="1929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108960"/>
            <a:ext cx="192938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675887"/>
            <a:ext cx="1929384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One clear action and its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423160"/>
            <a:ext cx="2331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606040"/>
            <a:ext cx="1929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108960"/>
            <a:ext cx="192938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675887"/>
            <a:ext cx="1929384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One clear action and its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23160"/>
            <a:ext cx="2331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606040"/>
            <a:ext cx="1929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108960"/>
            <a:ext cx="192938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675887"/>
            <a:ext cx="1929384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One clear action and its output.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423160"/>
            <a:ext cx="2331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606040"/>
            <a:ext cx="19293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108960"/>
            <a:ext cx="192938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675887"/>
            <a:ext cx="1929384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One clear action and its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Four-Quadrant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1828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01 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Core capability or strength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18288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02 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7860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Limitation or weakness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5074920" cy="182880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03 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2744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External opening to pursue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074920" cy="182880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04 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2744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Threat or uncertainty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Left-Heavy Editorial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977639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A strong editorial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37947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6B7280"/>
                </a:solidFill>
                <a:latin typeface="Aptos"/>
              </a:defRPr>
            </a:pPr>
            <a:r>
              <a:t>A short supporting deck that tells the audience what to look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011680"/>
            <a:ext cx="566928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Develop the argument in a right-hand reading column. Use two or three concise paragraphs, a clear evidence point, and a closing implication. Avoid turning the column into a wall of text; use subheads or a pull quote if the material is dense.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PEOPLE /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Team &amp; Bio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1709928" y="1828800"/>
            <a:ext cx="1325880" cy="132588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6499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Alex Morgan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67328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Short role summary and relevant expertise.</a:t>
            </a:r>
          </a:p>
        </p:txBody>
      </p:sp>
      <p:sp>
        <p:nvSpPr>
          <p:cNvPr id="10" name="Oval 9"/>
          <p:cNvSpPr/>
          <p:nvPr/>
        </p:nvSpPr>
        <p:spPr>
          <a:xfrm>
            <a:off x="5321808" y="1828800"/>
            <a:ext cx="1325880" cy="132588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36499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Jordan Lee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67328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24528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Short role summary and relevant expertise.</a:t>
            </a:r>
          </a:p>
        </p:txBody>
      </p:sp>
      <p:sp>
        <p:nvSpPr>
          <p:cNvPr id="14" name="Oval 13"/>
          <p:cNvSpPr/>
          <p:nvPr/>
        </p:nvSpPr>
        <p:spPr>
          <a:xfrm>
            <a:off x="8933688" y="1828800"/>
            <a:ext cx="1325880" cy="132588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36499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111827"/>
                </a:solidFill>
                <a:latin typeface="Aptos"/>
              </a:defRPr>
            </a:pPr>
            <a:r>
              <a:t>Sam Taylor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67328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24528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Short role summary and relevant expertise.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508760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06B6D4"/>
                </a:solidFill>
                <a:latin typeface="Aptos"/>
              </a:defRPr>
            </a:pPr>
            <a:r>
              <a:t>PRESENTATION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057400"/>
            <a:ext cx="97840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Make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8961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t>Decision • Discussion •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Editable native PowerPoint layout specimen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Agenda / Section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111827"/>
                </a:solidFill>
                <a:latin typeface="Aptos"/>
              </a:defRPr>
            </a:pPr>
            <a:r>
              <a:t>Context and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350008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24327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24327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374151"/>
                </a:solidFill>
                <a:latin typeface="Aptos"/>
              </a:defRPr>
            </a:pPr>
            <a:r>
              <a:t>What the evidence says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099815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74135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74135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374151"/>
                </a:solidFill>
                <a:latin typeface="Aptos"/>
              </a:defRPr>
            </a:pPr>
            <a:r>
              <a:t>Options and trade-offs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849623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23944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23944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374151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99431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73752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73752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374151"/>
                </a:solidFill>
                <a:latin typeface="Aptos"/>
              </a:defRPr>
            </a:pPr>
            <a:r>
              <a:t>Decision and next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34924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VISUAL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Full-Bleed Image + Caption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52760" cy="379476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10012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FULL-BLEED ARTWORK / PHOTO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Aptos"/>
              </a:defRPr>
            </a:pPr>
            <a:r>
              <a:t>Caption: explain why this image matters • Source / credit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VISUAL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Image + Text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754880" cy="38862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6B7280"/>
                </a:solidFill>
                <a:latin typeface="Aptos"/>
              </a:defRPr>
            </a:pPr>
            <a:r>
              <a:t>IMAGE / ILLUSTRATION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  <a:latin typeface="Aptos"/>
              </a:defRPr>
            </a:pPr>
            <a:r>
              <a:t>A visual explanation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292608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834640"/>
            <a:ext cx="4352544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What the audience should notice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70332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3611880"/>
            <a:ext cx="4352544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448055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389120"/>
            <a:ext cx="4352544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Implication or 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Chart + Insight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66751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4206240"/>
            <a:ext cx="438912" cy="914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3703320"/>
            <a:ext cx="438912" cy="141732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239" y="3931920"/>
            <a:ext cx="438912" cy="118872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3063239"/>
            <a:ext cx="438912" cy="20574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2606039"/>
            <a:ext cx="438912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926079"/>
            <a:ext cx="438912" cy="219456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285232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Aptos"/>
              </a:defRPr>
            </a:pPr>
            <a:r>
              <a:t>Illustrative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965960"/>
            <a:ext cx="3520440" cy="3749039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 i="0">
                <a:solidFill>
                  <a:srgbClr val="111827"/>
                </a:solidFill>
                <a:latin typeface="Aptos"/>
              </a:defRPr>
            </a:pPr>
            <a:r>
              <a:t>The strongest movement occurs in the final period.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389120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Add source, time range, units and caveats.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Funnel /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rapezoid 5"/>
          <p:cNvSpPr/>
          <p:nvPr/>
        </p:nvSpPr>
        <p:spPr>
          <a:xfrm>
            <a:off x="2072487" y="1874519"/>
            <a:ext cx="8046720" cy="658368"/>
          </a:xfrm>
          <a:prstGeom prst="trapezoi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5367" y="2039112"/>
            <a:ext cx="7680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Awareness</a:t>
            </a:r>
          </a:p>
        </p:txBody>
      </p:sp>
      <p:sp>
        <p:nvSpPr>
          <p:cNvPr id="8" name="Trapezoid 7"/>
          <p:cNvSpPr/>
          <p:nvPr/>
        </p:nvSpPr>
        <p:spPr>
          <a:xfrm>
            <a:off x="2598267" y="2679191"/>
            <a:ext cx="6995160" cy="658368"/>
          </a:xfrm>
          <a:prstGeom prst="trapezoid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1147" y="2843784"/>
            <a:ext cx="6629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Interest</a:t>
            </a:r>
          </a:p>
        </p:txBody>
      </p:sp>
      <p:sp>
        <p:nvSpPr>
          <p:cNvPr id="10" name="Trapezoid 9"/>
          <p:cNvSpPr/>
          <p:nvPr/>
        </p:nvSpPr>
        <p:spPr>
          <a:xfrm>
            <a:off x="3124047" y="3483863"/>
            <a:ext cx="5943600" cy="658368"/>
          </a:xfrm>
          <a:prstGeom prst="trapezoi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6927" y="3648456"/>
            <a:ext cx="5577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Consideration</a:t>
            </a:r>
          </a:p>
        </p:txBody>
      </p:sp>
      <p:sp>
        <p:nvSpPr>
          <p:cNvPr id="12" name="Trapezoid 11"/>
          <p:cNvSpPr/>
          <p:nvPr/>
        </p:nvSpPr>
        <p:spPr>
          <a:xfrm>
            <a:off x="3649827" y="4288536"/>
            <a:ext cx="4892040" cy="658368"/>
          </a:xfrm>
          <a:prstGeom prst="trapezoid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2707" y="4453127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175607" y="5093208"/>
            <a:ext cx="3840480" cy="658368"/>
          </a:xfrm>
          <a:prstGeom prst="trapezoi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487" y="5257800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Conversion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Pyramid / Maturity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rapezoid 5"/>
          <p:cNvSpPr/>
          <p:nvPr/>
        </p:nvSpPr>
        <p:spPr>
          <a:xfrm>
            <a:off x="4724247" y="1828800"/>
            <a:ext cx="2743200" cy="713232"/>
          </a:xfrm>
          <a:prstGeom prst="trapezoi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5687" y="202996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8" name="Trapezoid 7"/>
          <p:cNvSpPr/>
          <p:nvPr/>
        </p:nvSpPr>
        <p:spPr>
          <a:xfrm>
            <a:off x="4084167" y="2788920"/>
            <a:ext cx="4023360" cy="713232"/>
          </a:xfrm>
          <a:prstGeom prst="trapezoid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5607" y="299008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DEFINED</a:t>
            </a:r>
          </a:p>
        </p:txBody>
      </p:sp>
      <p:sp>
        <p:nvSpPr>
          <p:cNvPr id="10" name="Trapezoid 9"/>
          <p:cNvSpPr/>
          <p:nvPr/>
        </p:nvSpPr>
        <p:spPr>
          <a:xfrm>
            <a:off x="3444087" y="3749039"/>
            <a:ext cx="5303520" cy="713232"/>
          </a:xfrm>
          <a:prstGeom prst="trapezoi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5527" y="3950207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REPEATABLE</a:t>
            </a:r>
          </a:p>
        </p:txBody>
      </p:sp>
      <p:sp>
        <p:nvSpPr>
          <p:cNvPr id="12" name="Trapezoid 11"/>
          <p:cNvSpPr/>
          <p:nvPr/>
        </p:nvSpPr>
        <p:spPr>
          <a:xfrm>
            <a:off x="2804007" y="4709160"/>
            <a:ext cx="6583679" cy="713232"/>
          </a:xfrm>
          <a:prstGeom prst="trapezoid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5447" y="4910328"/>
            <a:ext cx="640079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FOUNDATIONAL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PROCESS /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Flywheel / Circular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Oval 5"/>
          <p:cNvSpPr/>
          <p:nvPr/>
        </p:nvSpPr>
        <p:spPr>
          <a:xfrm>
            <a:off x="4892040" y="2880360"/>
            <a:ext cx="2331720" cy="150876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3337560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111827"/>
                </a:solidFill>
                <a:latin typeface="Aptos"/>
              </a:defRPr>
            </a:pPr>
            <a:r>
              <a:t>REINFORCING</a:t>
            </a:r>
            <a:br/>
            <a:r>
              <a:t>OUTCOME</a:t>
            </a:r>
          </a:p>
        </p:txBody>
      </p:sp>
      <p:sp>
        <p:nvSpPr>
          <p:cNvPr id="8" name="Oval 7"/>
          <p:cNvSpPr/>
          <p:nvPr/>
        </p:nvSpPr>
        <p:spPr>
          <a:xfrm>
            <a:off x="4800600" y="182880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039112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Attract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92608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136392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457200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4782312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14" name="Oval 13"/>
          <p:cNvSpPr/>
          <p:nvPr/>
        </p:nvSpPr>
        <p:spPr>
          <a:xfrm>
            <a:off x="2057400" y="2926080"/>
            <a:ext cx="1325880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3136392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Learn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SYSTEMS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Hub-and-Spoke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Oval 5"/>
          <p:cNvSpPr/>
          <p:nvPr/>
        </p:nvSpPr>
        <p:spPr>
          <a:xfrm>
            <a:off x="4800600" y="2971800"/>
            <a:ext cx="2514600" cy="123444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3410712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CORE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011680"/>
            <a:ext cx="1737360" cy="65836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212848"/>
            <a:ext cx="15910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737360" cy="65836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029968"/>
            <a:ext cx="15910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1737360" cy="65836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2029968"/>
            <a:ext cx="15910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023360"/>
            <a:ext cx="1737360" cy="65836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4224528"/>
            <a:ext cx="15910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572000"/>
            <a:ext cx="1737360" cy="65836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4773168"/>
            <a:ext cx="15910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111827"/>
                </a:solidFill>
                <a:latin typeface="Aptos"/>
              </a:defRPr>
            </a:pPr>
            <a:r>
              <a:t>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Roadmap / Swimlane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67128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965960"/>
            <a:ext cx="256032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219456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NOW: initiative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965960"/>
            <a:ext cx="2560320" cy="749808"/>
          </a:xfrm>
          <a:prstGeom prst="round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8968" y="219456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NEXT: initiative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2560320" cy="749808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219456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LATER: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200400"/>
            <a:ext cx="256032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342900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NOW: initiative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200400"/>
            <a:ext cx="2560320" cy="749808"/>
          </a:xfrm>
          <a:prstGeom prst="round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8" y="342900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NEXT: initiative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00400"/>
            <a:ext cx="2560320" cy="749808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42900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LATER: initiative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36007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4434840"/>
            <a:ext cx="256032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46634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NOW: initiative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434840"/>
            <a:ext cx="2560320" cy="749808"/>
          </a:xfrm>
          <a:prstGeom prst="round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46634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NEXT: initiative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434840"/>
            <a:ext cx="2560320" cy="749808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46634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LATER: initiative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Risk / Impact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965960"/>
            <a:ext cx="80467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0" y="1965960"/>
            <a:ext cx="22860" cy="3794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858768"/>
            <a:ext cx="80467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148840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Aptos"/>
              </a:defRPr>
            </a:pPr>
            <a:r>
              <a:t>HIGH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28523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LOW IMPACT</a:t>
            </a:r>
          </a:p>
        </p:txBody>
      </p:sp>
      <p:sp>
        <p:nvSpPr>
          <p:cNvPr id="11" name="Oval 10"/>
          <p:cNvSpPr/>
          <p:nvPr/>
        </p:nvSpPr>
        <p:spPr>
          <a:xfrm>
            <a:off x="2834640" y="2743200"/>
            <a:ext cx="219456" cy="21945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71576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Risk A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65176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62432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Risk B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4434840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4407407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Risk C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457200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454456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Risk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70448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LOW LIKELIHOOD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87044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HIGH LIKELIHOOD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COMPARISON /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Before / After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2240280"/>
            <a:ext cx="4892040" cy="2971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0947" y="256032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563EB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8" name="Oval 7"/>
          <p:cNvSpPr/>
          <p:nvPr/>
        </p:nvSpPr>
        <p:spPr>
          <a:xfrm>
            <a:off x="118094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0403" y="3246120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18094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0403" y="3776472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18094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0403" y="4306824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7" y="2240280"/>
            <a:ext cx="4892040" cy="297180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5907" y="256032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FUTURE STATE</a:t>
            </a:r>
          </a:p>
        </p:txBody>
      </p:sp>
      <p:sp>
        <p:nvSpPr>
          <p:cNvPr id="16" name="Oval 15"/>
          <p:cNvSpPr/>
          <p:nvPr/>
        </p:nvSpPr>
        <p:spPr>
          <a:xfrm>
            <a:off x="657590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5363" y="3246120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657590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5363" y="3776472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7590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5363" y="4306824"/>
            <a:ext cx="421538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EVIDENCE /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Case Study / Proof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 i="0">
                <a:solidFill>
                  <a:srgbClr val="2563EB"/>
                </a:solidFill>
                <a:latin typeface="Aptos"/>
              </a:defRPr>
            </a:pPr>
            <a:r>
              <a:t>+27%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Illustrative outcome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057400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7" y="2240280"/>
            <a:ext cx="18379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7" y="2743200"/>
            <a:ext cx="183794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7" y="3310128"/>
            <a:ext cx="183794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Define the customer or business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240280"/>
            <a:ext cx="18379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743200"/>
            <a:ext cx="183794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310128"/>
            <a:ext cx="183794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Describe the action and why it was chosen.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057400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2240280"/>
            <a:ext cx="18379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743200"/>
            <a:ext cx="183794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310128"/>
            <a:ext cx="183794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Quantify the result and state the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VISUAL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Portfolio / Gallery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828800"/>
            <a:ext cx="3246120" cy="1325880"/>
          </a:xfrm>
          <a:prstGeom prst="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134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46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828800"/>
            <a:ext cx="3246120" cy="1325880"/>
          </a:xfrm>
          <a:prstGeom prst="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3134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3246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828800"/>
            <a:ext cx="3246120" cy="1325880"/>
          </a:xfrm>
          <a:prstGeom prst="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3134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32461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86200"/>
            <a:ext cx="3246120" cy="1325880"/>
          </a:xfrm>
          <a:prstGeom prst="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3035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3128" y="3886200"/>
            <a:ext cx="3246120" cy="1325880"/>
          </a:xfrm>
          <a:prstGeom prst="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3708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53035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886200"/>
            <a:ext cx="3246120" cy="1325880"/>
          </a:xfrm>
          <a:prstGeom prst="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4370832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Aptos"/>
              </a:defRPr>
            </a:pPr>
            <a:r>
              <a:t>VISUAL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5303520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74151"/>
                </a:solidFill>
                <a:latin typeface="Aptos"/>
              </a:defRPr>
            </a:pPr>
            <a:r>
              <a:t>Caption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PEOPLE /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Organization / Hierarchy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Strategy /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54680"/>
            <a:ext cx="9418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9052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Applications / 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251960"/>
            <a:ext cx="8412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434840"/>
            <a:ext cx="804671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Data /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Label interfaces, ownership, direction of flow, and system boundaries.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SYSTEMS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Technical Architecture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Strategy /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54680"/>
            <a:ext cx="9418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37560"/>
            <a:ext cx="9052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Applications / 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251960"/>
            <a:ext cx="8412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434840"/>
            <a:ext cx="804671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Data /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Label interfaces, ownership, direction of flow, and system boundaries.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SWOT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1828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01 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Core capability or strength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18288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02 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7860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Limitation or weakness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5074920" cy="182880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03 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2744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External opening to pursue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074920" cy="182880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04 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27448"/>
            <a:ext cx="4572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Threat or uncertainty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Scorecard / KPI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194560"/>
            <a:ext cx="2020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98.6%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0208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64408"/>
            <a:ext cx="2020824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Target / trend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194560"/>
            <a:ext cx="2020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10B981"/>
                </a:solidFill>
                <a:latin typeface="Aptos"/>
              </a:defRPr>
            </a:pPr>
            <a:r>
              <a:t>+18%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697480"/>
            <a:ext cx="20208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264408"/>
            <a:ext cx="2020824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Target / trend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94560"/>
            <a:ext cx="2020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06B6D4"/>
                </a:solidFill>
                <a:latin typeface="Aptos"/>
              </a:defRPr>
            </a:pPr>
            <a:r>
              <a:t>4.2/5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697480"/>
            <a:ext cx="20208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264408"/>
            <a:ext cx="2020824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Target / trend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01168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194560"/>
            <a:ext cx="2020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F59E0B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97480"/>
            <a:ext cx="20208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Active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264408"/>
            <a:ext cx="2020824" cy="1828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Target / trend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977639"/>
            <a:ext cx="10561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5196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Trend / status summary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757166"/>
            <a:ext cx="347472" cy="226314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4621377"/>
            <a:ext cx="347472" cy="36210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4691786"/>
            <a:ext cx="347472" cy="291693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4505706"/>
            <a:ext cx="347472" cy="477773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4420209"/>
            <a:ext cx="347472" cy="56327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4561027"/>
            <a:ext cx="347472" cy="42245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4339742"/>
            <a:ext cx="347472" cy="643737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4455414"/>
            <a:ext cx="347472" cy="52806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Waterfall /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657599"/>
            <a:ext cx="105156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3492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3017520"/>
            <a:ext cx="10515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53492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+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017520"/>
            <a:ext cx="105156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53492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−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514600"/>
            <a:ext cx="1051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3492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+ Mix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977639"/>
            <a:ext cx="105156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53492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374151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20640"/>
            <a:ext cx="9326880" cy="228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Geographic / Regional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6492240" cy="37947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6B7280"/>
                </a:solidFill>
                <a:latin typeface="Aptos"/>
              </a:defRPr>
            </a:pPr>
            <a:r>
              <a:t>VISUAL / REGIONAL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200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 i="0">
                <a:solidFill>
                  <a:srgbClr val="111827"/>
                </a:solidFill>
                <a:latin typeface="Aptos"/>
              </a:defRPr>
            </a:pPr>
            <a:r>
              <a:t>Headline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65176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Revenue / region / period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32461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Largest contributor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402335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39319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Fastest-growing segment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470915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46177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Source and reporting period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EXPERIENCE /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Customer Journey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423160" cy="5943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8892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Customer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3044952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54787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3803904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306824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4562856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965960"/>
            <a:ext cx="2423160" cy="5943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130552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78892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Customer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9312" y="3044952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354787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3803904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4306824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9312" y="4562856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2423160" cy="5943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30552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Purchase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78892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Customer 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3044952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354787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3803904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306824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4562856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1965960"/>
            <a:ext cx="2423160" cy="5943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130552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2788920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Customer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3044952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34272" y="354787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Pain 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4272" y="3803904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4306824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ptos"/>
              </a:defRPr>
            </a:pPr>
            <a:r>
              <a:t>Opportunity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4562856"/>
            <a:ext cx="226771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NARRATIVE / PERSUASION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Problem → Solution →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240280"/>
            <a:ext cx="3246120" cy="2971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347" y="2560320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2563E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Oval 7"/>
          <p:cNvSpPr/>
          <p:nvPr/>
        </p:nvSpPr>
        <p:spPr>
          <a:xfrm>
            <a:off x="95234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1803" y="3246120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95234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1803" y="3776472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5234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1803" y="4306824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2787" y="2240280"/>
            <a:ext cx="3246120" cy="297180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1387" y="2560320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470138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0843" y="3246120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470138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0843" y="3776472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470138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0843" y="4306824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1827" y="2240280"/>
            <a:ext cx="3246120" cy="2971800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0427" y="2560320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450427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9883" y="3246120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Key point /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8450427" y="3867911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9883" y="3776472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Trade-off or implication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8450427" y="43982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9883" y="4306824"/>
            <a:ext cx="2569463" cy="4846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Aptos"/>
              </a:defRPr>
            </a:pPr>
            <a:r>
              <a:t>Recommended next step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SYSTEMS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Layered Stack /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7955279" cy="71323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039112"/>
            <a:ext cx="7498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EXPERIENCE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88920"/>
            <a:ext cx="7955279" cy="713232"/>
          </a:xfrm>
          <a:prstGeom prst="roundRect">
            <a:avLst/>
          </a:prstGeom>
          <a:solidFill>
            <a:srgbClr val="E6FA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999232"/>
            <a:ext cx="7498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SERVICES &amp;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749039"/>
            <a:ext cx="7955279" cy="713232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3959352"/>
            <a:ext cx="7498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DATA &amp;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709160"/>
            <a:ext cx="7955279" cy="713232"/>
          </a:xfrm>
          <a:prstGeom prst="roundRect">
            <a:avLst/>
          </a:prstGeom>
          <a:solidFill>
            <a:srgbClr val="1F2A3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919472"/>
            <a:ext cx="749807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INFRASTRUCTURE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Diamond 5"/>
          <p:cNvSpPr/>
          <p:nvPr/>
        </p:nvSpPr>
        <p:spPr>
          <a:xfrm>
            <a:off x="4800600" y="1828800"/>
            <a:ext cx="2468880" cy="1234440"/>
          </a:xfrm>
          <a:prstGeom prst="diamond">
            <a:avLst/>
          </a:prstGeom>
          <a:solidFill>
            <a:srgbClr val="FFF5D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2304288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11827"/>
                </a:solidFill>
                <a:latin typeface="Aptos"/>
              </a:defRPr>
            </a:pPr>
            <a:r>
              <a:t>Decision?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3886200"/>
            <a:ext cx="2423160" cy="868680"/>
          </a:xfrm>
          <a:prstGeom prst="roundRect">
            <a:avLst/>
          </a:prstGeom>
          <a:solidFill>
            <a:srgbClr val="E7F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7128" y="41788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YES → Action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886200"/>
            <a:ext cx="2423160" cy="868680"/>
          </a:xfrm>
          <a:prstGeom prst="roundRect">
            <a:avLst/>
          </a:prstGeom>
          <a:solidFill>
            <a:srgbClr val="FEECE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41788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NO → Action 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Ranked List / Priority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59436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3911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9280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92807"/>
            <a:ext cx="5669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Immediate impact / unblock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594360" cy="5669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07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High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807208"/>
            <a:ext cx="5669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Strong return / near-term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59436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67911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2160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Strategic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721607"/>
            <a:ext cx="5669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Longer-term 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594360" cy="56692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782312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636007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636007"/>
            <a:ext cx="5669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Aptos"/>
              </a:defRPr>
            </a:pPr>
            <a:r>
              <a:t>Keep visible; revisit later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EMPHASIS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Quote +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6766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59436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1">
                <a:solidFill>
                  <a:srgbClr val="111827"/>
                </a:solidFill>
                <a:latin typeface="Aptos"/>
              </a:defRPr>
            </a:pPr>
            <a:r>
              <a:t>“A concise customer voice that captures the value proposition.”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16052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— Customer / role /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246120" cy="35661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788920"/>
            <a:ext cx="26974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900" b="1" i="0">
                <a:solidFill>
                  <a:srgbClr val="2563EB"/>
                </a:solidFill>
                <a:latin typeface="Aptos"/>
              </a:defRPr>
            </a:pPr>
            <a:r>
              <a:t>4.8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11880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111827"/>
                </a:solidFill>
                <a:latin typeface="Aptos"/>
              </a:defRPr>
            </a:pPr>
            <a:r>
              <a:t>Supporting proof point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FAQ / Myth vs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4320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31012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60520"/>
            <a:ext cx="32004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43400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846320"/>
            <a:ext cx="27980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5413248"/>
            <a:ext cx="279806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A concise explanation that supports the main point without overloading the card.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PRODUCT /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Product / Feature Spotlight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572000" cy="36576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6B7280"/>
                </a:solidFill>
                <a:latin typeface="Aptos"/>
              </a:defRPr>
            </a:pPr>
            <a:r>
              <a:t>PRODUCT / ARTWORK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057400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  <a:latin typeface="Aptos"/>
              </a:defRPr>
            </a:pPr>
            <a:r>
              <a:t>One capability, clearly framed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306324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2971800"/>
            <a:ext cx="4626864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374151"/>
                </a:solidFill>
                <a:latin typeface="Aptos"/>
              </a:defRPr>
            </a:pPr>
            <a:r>
              <a:t>Benefit-led feature callout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3776472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3685032"/>
            <a:ext cx="4626864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374151"/>
                </a:solidFill>
                <a:latin typeface="Aptos"/>
              </a:defRPr>
            </a:pPr>
            <a:r>
              <a:t>Supporting proof or use case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448970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4398264"/>
            <a:ext cx="4626864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374151"/>
                </a:solidFill>
                <a:latin typeface="Aptos"/>
              </a:defRPr>
            </a:pPr>
            <a:r>
              <a:t>Clear differentiation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DATA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Financial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6492240" cy="37947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6B7280"/>
                </a:solidFill>
                <a:latin typeface="Aptos"/>
              </a:defRPr>
            </a:pPr>
            <a:r>
              <a:t>VISUAL / REGIONAL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200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1" i="0">
                <a:solidFill>
                  <a:srgbClr val="111827"/>
                </a:solidFill>
                <a:latin typeface="Aptos"/>
              </a:defRPr>
            </a:pPr>
            <a:r>
              <a:t>Headline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65176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Aptos"/>
              </a:defRPr>
            </a:pPr>
            <a:r>
              <a:t>Revenue / region / period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33375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32461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Largest contributor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402335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39319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Fastest-growing segment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470915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4617720"/>
            <a:ext cx="316382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Source and reporting period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Source /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SOURCES &amp;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468880"/>
            <a:ext cx="9656064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Source name, publication date and link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200400"/>
            <a:ext cx="9656064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Method used to collect or calculate the data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2336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931920"/>
            <a:ext cx="9656064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Sample size, scope and reporting period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754880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663440"/>
            <a:ext cx="9656064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374151"/>
                </a:solidFill>
                <a:latin typeface="Aptos"/>
              </a:defRPr>
            </a:pPr>
            <a:r>
              <a:t>Known limitations, assumptions and exclusions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Appendix / Dense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REF-01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Reference item / detailed supporting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67712"/>
            <a:ext cx="99669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REF-02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87752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Reference item / detailed supporting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26664"/>
            <a:ext cx="99669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46704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REF-03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46704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Reference item / detailed supporting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85616"/>
            <a:ext cx="99669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0565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REF-04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105656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Reference item / detailed supporting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44568"/>
            <a:ext cx="99669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ptos"/>
              </a:defRPr>
            </a:pPr>
            <a:r>
              <a:t>REF-05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864608"/>
            <a:ext cx="8046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374151"/>
                </a:solidFill>
                <a:latin typeface="Aptos"/>
              </a:defRPr>
            </a:pPr>
            <a:r>
              <a:t>Reference item / detailed supporting information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03520"/>
            <a:ext cx="99669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EXECUTIVE /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Prominent takeaway, three supporting proof cards, and a clear decision ask.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EMPHASIS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One Big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One 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Oversized central statement, restrained accent motif, and one supporting proof point.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Three-Act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Three-Act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Three connected narrative panels with a clear progression.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PLANNING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Milestone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Milestone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Horizontal stages with gate markers and decision criteria beneath each.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STRATEGY /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Capability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Capability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Grouped capability tiles organized into meaningful domains.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STRATEGY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Value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Value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Ordered value-creation stages with outputs and hand-offs.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ORGANIZATION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Central operating-model frame surrounded by aligned component cards.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EXPERIENCE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Service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Service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Horizontal journey stages over customer, frontstage, backstage, and support lanes.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PRODUCT /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Product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Product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Lifecycle stages on a horizontal arc or sequence with stage outputs.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MARKET /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Market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Market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Segment cards with needs, relative size, and value opportunity.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COMPARISON /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Competitive Positioning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Competitive Positioning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Two-axis scatter map with readable competitor labels and a legend.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Opportunity Prioritization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Opportunity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Prioritization matrix or scored list with the top opportunity emphasized.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STRATEGY /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Scenario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Scenario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Two to four scenario cards with assumptions and strategic responses.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STRATEGY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Assumptions &amp;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Assumptions &amp; 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Assumption, test, evidence, and decision columns.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PLANNING /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Action rows with owner, timing, dependency, and status.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1089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612648"/>
            <a:ext cx="106070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111827"/>
                </a:solidFill>
                <a:latin typeface="Aptos"/>
              </a:defRPr>
            </a:pPr>
            <a:r>
              <a:t>Decision /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89888"/>
            <a:ext cx="65836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474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6B7280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  <a:latin typeface="Aptos"/>
              </a:defRPr>
            </a:pPr>
            <a:r>
              <a:t>Decision /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ptos"/>
              </a:defRPr>
            </a:pPr>
            <a:r>
              <a:t>Decision question, options, recommendation, implications, and approval 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Layout Archetype Library</dc:title>
  <dc:subject>Editable specimen slides for a programmatic presentation builder</dc:subject>
  <dc:creator>Presentation Layout Library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