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81328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22D3EE"/>
                </a:solidFill>
                <a:latin typeface="Segoe UI"/>
              </a:rPr>
              <a:t>PRESENTATION 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9966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sz="4400" b="1" i="0">
                <a:solidFill>
                  <a:srgbClr val="F8FAFC"/>
                </a:solidFill>
                <a:latin typeface="Segoe UI"/>
              </a:rPr>
              <a:t>Design with a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6616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 i="0">
                <a:solidFill>
                  <a:srgbClr val="CBD5E1"/>
                </a:solidFill>
                <a:latin typeface="Segoe UI"/>
              </a:rPr>
              <a:t>A global library of presentation layout archetypes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443984"/>
            <a:ext cx="914400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71830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Editable native PowerPoint layout specimen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CORE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Lead with the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Support it with evidence, examples and implications.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288540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87956"/>
            <a:ext cx="8577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Claim, then evidence, then implication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2741295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640711"/>
            <a:ext cx="8577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Prefer specific, parallel bullet wording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194050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093466"/>
            <a:ext cx="8577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Cite sources for external facts and metrics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646805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546221"/>
            <a:ext cx="8577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One idea per bullet, split slides when needed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5754116"/>
            <a:ext cx="5486400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5891276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1">
                <a:solidFill>
                  <a:srgbClr val="93A1B8"/>
                </a:solidFill>
                <a:latin typeface="Segoe UI"/>
              </a:rPr>
              <a:t>Illustrative content - replace with your own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CORE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Three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The framework every proposal is measured against.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004858"/>
            <a:ext cx="3368040" cy="2055114"/>
          </a:xfrm>
          <a:prstGeom prst="roundRect">
            <a:avLst>
              <a:gd name="adj" fmla="val 622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3004858"/>
            <a:ext cx="3368040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60890"/>
            <a:ext cx="2855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4"/>
              </a:lnSpc>
            </a:pPr>
            <a:r>
              <a:rPr sz="2200" b="1" i="0">
                <a:solidFill>
                  <a:srgbClr val="60A5FA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36378"/>
            <a:ext cx="2855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Clarity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75290"/>
            <a:ext cx="2855975" cy="628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One idea per slide, stated so the audience can repeat it 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3004858"/>
            <a:ext cx="3368040" cy="2055114"/>
          </a:xfrm>
          <a:prstGeom prst="roundRect">
            <a:avLst>
              <a:gd name="adj" fmla="val 622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0456" y="3004858"/>
            <a:ext cx="336804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6488" y="3260890"/>
            <a:ext cx="2855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4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6488" y="3736378"/>
            <a:ext cx="2855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6488" y="4175290"/>
            <a:ext cx="2855975" cy="628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A shared visual grammar keeps the deck coherent from slide to slide.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1104" y="3004858"/>
            <a:ext cx="3368040" cy="2055114"/>
          </a:xfrm>
          <a:prstGeom prst="roundRect">
            <a:avLst>
              <a:gd name="adj" fmla="val 622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1104" y="3004858"/>
            <a:ext cx="336804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7135" y="3260890"/>
            <a:ext cx="2855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4"/>
              </a:lnSpc>
            </a:pPr>
            <a:r>
              <a:rPr sz="2200" b="1" i="0">
                <a:solidFill>
                  <a:srgbClr val="34D399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7135" y="3736378"/>
            <a:ext cx="28559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7135" y="4175290"/>
            <a:ext cx="2855975" cy="628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The same system works for a three-slide update or a full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CORE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The focal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755648"/>
            <a:ext cx="3977639" cy="4343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258568"/>
            <a:ext cx="3154679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One strong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8" y="2167128"/>
            <a:ext cx="62544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72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The focal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4648" y="2926080"/>
            <a:ext cx="6400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84648" y="336499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5816" y="3264408"/>
            <a:ext cx="5870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 i="0">
                <a:solidFill>
                  <a:srgbClr val="CBD5E1"/>
                </a:solidFill>
                <a:latin typeface="Segoe UI"/>
              </a:rPr>
              <a:t>Context, evidence or a short narrative that explains why this matters</a:t>
            </a:r>
          </a:p>
        </p:txBody>
      </p:sp>
      <p:sp>
        <p:nvSpPr>
          <p:cNvPr id="14" name="Oval 13"/>
          <p:cNvSpPr/>
          <p:nvPr/>
        </p:nvSpPr>
        <p:spPr>
          <a:xfrm>
            <a:off x="5184648" y="3804285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3703701"/>
            <a:ext cx="5870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 i="0">
                <a:solidFill>
                  <a:srgbClr val="CBD5E1"/>
                </a:solidFill>
                <a:latin typeface="Segoe UI"/>
              </a:rPr>
              <a:t>Support the claim with one concrete piece of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The numbers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Headline performance against the agreed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42969"/>
            <a:ext cx="33192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124"/>
              </a:lnSpc>
            </a:pPr>
            <a:r>
              <a:rPr sz="4200" b="1" i="0">
                <a:solidFill>
                  <a:srgbClr val="60A5FA"/>
                </a:solidFill>
                <a:latin typeface="Segoe UI"/>
              </a:rPr>
              <a:t>98.6%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494530"/>
            <a:ext cx="33192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933442"/>
            <a:ext cx="3319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vs. baseline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59" y="3168650"/>
            <a:ext cx="0" cy="160020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34840" y="3442969"/>
            <a:ext cx="33192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124"/>
              </a:lnSpc>
            </a:pPr>
            <a:r>
              <a:rPr sz="4200" b="1" i="0">
                <a:solidFill>
                  <a:srgbClr val="22D3EE"/>
                </a:solidFill>
                <a:latin typeface="Segoe UI"/>
              </a:rPr>
              <a:t>2.4x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494530"/>
            <a:ext cx="33192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933442"/>
            <a:ext cx="3319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vs.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36992" y="3168650"/>
            <a:ext cx="0" cy="160020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9871" y="3442969"/>
            <a:ext cx="33192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124"/>
              </a:lnSpc>
            </a:pPr>
            <a:r>
              <a:rPr sz="4200" b="1" i="0">
                <a:solidFill>
                  <a:srgbClr val="34D399"/>
                </a:solidFill>
                <a:latin typeface="Segoe UI"/>
              </a:rPr>
              <a:t>-31%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4494530"/>
            <a:ext cx="331927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Cycle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4933442"/>
            <a:ext cx="3319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vs.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PROCESS /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How we got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7" y="3630168"/>
            <a:ext cx="10232136" cy="41148"/>
          </a:xfrm>
          <a:prstGeom prst="rect">
            <a:avLst/>
          </a:prstGeom>
          <a:solidFill>
            <a:srgbClr val="2C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52728" y="3493008"/>
            <a:ext cx="310896" cy="3108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214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60A5FA"/>
                </a:solidFill>
                <a:latin typeface="Segoe U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32303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98063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Milestone summary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3493008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401421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22D3EE"/>
                </a:solidFill>
                <a:latin typeface="Segoe U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3251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690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Milestone summary</a:t>
            </a:r>
          </a:p>
        </p:txBody>
      </p:sp>
      <p:sp>
        <p:nvSpPr>
          <p:cNvPr id="17" name="Oval 16"/>
          <p:cNvSpPr/>
          <p:nvPr/>
        </p:nvSpPr>
        <p:spPr>
          <a:xfrm>
            <a:off x="7708392" y="3493008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1214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432303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798063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Milestone summary</a:t>
            </a:r>
          </a:p>
        </p:txBody>
      </p:sp>
      <p:sp>
        <p:nvSpPr>
          <p:cNvPr id="21" name="Oval 20"/>
          <p:cNvSpPr/>
          <p:nvPr/>
        </p:nvSpPr>
        <p:spPr>
          <a:xfrm>
            <a:off x="10936224" y="3493008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50424" y="401421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8984" y="43251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67544" y="4690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30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Milestone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Component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10689336" cy="502920"/>
          </a:xfrm>
          <a:prstGeom prst="roundRect">
            <a:avLst>
              <a:gd name="adj" fmla="val 10909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8823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6734" y="188823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9068" y="188823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1402" y="188823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258568"/>
            <a:ext cx="10689336" cy="502920"/>
          </a:xfrm>
          <a:prstGeom prst="rect">
            <a:avLst/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9115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Core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6734" y="239115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4,500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9068" y="239115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1402" y="239115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On track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2761487"/>
            <a:ext cx="10689336" cy="0"/>
          </a:xfrm>
          <a:prstGeom prst="line">
            <a:avLst/>
          </a:prstGeom>
          <a:ln w="9525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49808" y="2761487"/>
            <a:ext cx="10689336" cy="5029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894075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6734" y="2894075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8,900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9068" y="2894075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98%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1402" y="2894075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Stable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3264407"/>
            <a:ext cx="10689336" cy="0"/>
          </a:xfrm>
          <a:prstGeom prst="line">
            <a:avLst/>
          </a:prstGeom>
          <a:ln w="9525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49808" y="3264408"/>
            <a:ext cx="10689336" cy="502920"/>
          </a:xfrm>
          <a:prstGeom prst="rect">
            <a:avLst/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39699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6734" y="339699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12,100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9068" y="339699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99%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1402" y="339699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Active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3767328"/>
            <a:ext cx="10689336" cy="0"/>
          </a:xfrm>
          <a:prstGeom prst="line">
            <a:avLst/>
          </a:prstGeom>
          <a:ln w="9525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49808" y="3767328"/>
            <a:ext cx="10689336" cy="502920"/>
          </a:xfrm>
          <a:prstGeom prst="rect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89991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6734" y="389991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2,300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9068" y="389991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91%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1402" y="3899916"/>
            <a:ext cx="24894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Watch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9808" y="4270248"/>
            <a:ext cx="10689336" cy="0"/>
          </a:xfrm>
          <a:prstGeom prst="line">
            <a:avLst/>
          </a:prstGeom>
          <a:ln w="9525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Two ways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Both routes are viable; they differ in cost and time to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90749"/>
            <a:ext cx="5180076" cy="2375154"/>
          </a:xfrm>
          <a:prstGeom prst="roundRect">
            <a:avLst>
              <a:gd name="adj" fmla="val 5389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65069"/>
            <a:ext cx="46680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Option A - build in house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377133"/>
            <a:ext cx="54864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71546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614877"/>
            <a:ext cx="45217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Full control of the roadmap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02362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923042"/>
            <a:ext cx="45217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Higher upfront investment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33179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231208"/>
            <a:ext cx="45217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Slower first release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9068" y="2590749"/>
            <a:ext cx="5180076" cy="2375154"/>
          </a:xfrm>
          <a:prstGeom prst="roundRect">
            <a:avLst>
              <a:gd name="adj" fmla="val 5389"/>
            </a:avLst>
          </a:prstGeom>
          <a:solidFill>
            <a:srgbClr val="102B26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5100" y="2865069"/>
            <a:ext cx="46680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Option B - partner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5100" y="3377133"/>
            <a:ext cx="54864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5100" y="371546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6268" y="3614877"/>
            <a:ext cx="45217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Fastest path to launch</a:t>
            </a:r>
          </a:p>
        </p:txBody>
      </p:sp>
      <p:sp>
        <p:nvSpPr>
          <p:cNvPr id="23" name="Oval 22"/>
          <p:cNvSpPr/>
          <p:nvPr/>
        </p:nvSpPr>
        <p:spPr>
          <a:xfrm>
            <a:off x="6515100" y="4023626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6268" y="3923042"/>
            <a:ext cx="45217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Recurring licence cost</a:t>
            </a:r>
          </a:p>
        </p:txBody>
      </p:sp>
      <p:sp>
        <p:nvSpPr>
          <p:cNvPr id="25" name="Oval 24"/>
          <p:cNvSpPr/>
          <p:nvPr/>
        </p:nvSpPr>
        <p:spPr>
          <a:xfrm>
            <a:off x="6515100" y="433179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6268" y="4231208"/>
            <a:ext cx="45217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Less internal capability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EMPHASIS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What we heard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" y="1892807"/>
            <a:ext cx="73152" cy="23774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16736" y="1920240"/>
            <a:ext cx="986637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sz="2700" b="1" i="1">
                <a:solidFill>
                  <a:srgbClr val="F8FAFC"/>
                </a:solidFill>
                <a:latin typeface="Segoe UI"/>
              </a:rPr>
              <a:t>Clarity is not the absence of detail; it is the result of deliberate hierarchy.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44531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0" i="0">
                <a:solidFill>
                  <a:srgbClr val="93A1B8"/>
                </a:solidFill>
                <a:latin typeface="Segoe UI"/>
              </a:rPr>
              <a:t>— Example attribution /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48188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1">
                <a:solidFill>
                  <a:srgbClr val="93A1B8"/>
                </a:solidFill>
                <a:latin typeface="Segoe UI"/>
              </a:rPr>
              <a:t>Illustrative quote.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PROCESS /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How the workflow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Four repeatable stages, each with a clear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981655"/>
            <a:ext cx="2439162" cy="2066544"/>
          </a:xfrm>
          <a:prstGeom prst="roundRect">
            <a:avLst>
              <a:gd name="adj" fmla="val 619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13357" y="2570175"/>
            <a:ext cx="512064" cy="51206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3357" y="2679903"/>
            <a:ext cx="5120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0B0F19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621735"/>
            <a:ext cx="20734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51503"/>
            <a:ext cx="207340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One clear action and its output.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3834" y="2826207"/>
            <a:ext cx="201167" cy="0"/>
          </a:xfrm>
          <a:prstGeom prst="line">
            <a:avLst/>
          </a:prstGeom>
          <a:ln w="1905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99865" y="2981655"/>
            <a:ext cx="2439162" cy="2066544"/>
          </a:xfrm>
          <a:prstGeom prst="roundRect">
            <a:avLst>
              <a:gd name="adj" fmla="val 619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63415" y="2570175"/>
            <a:ext cx="512064" cy="51206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3415" y="2679903"/>
            <a:ext cx="5120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0B0F19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2746" y="3621735"/>
            <a:ext cx="20734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2746" y="4051503"/>
            <a:ext cx="207340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One clear action and its output.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93891" y="2826207"/>
            <a:ext cx="201168" cy="0"/>
          </a:xfrm>
          <a:prstGeom prst="line">
            <a:avLst/>
          </a:prstGeom>
          <a:ln w="1905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49924" y="2981655"/>
            <a:ext cx="2439162" cy="2066544"/>
          </a:xfrm>
          <a:prstGeom prst="roundRect">
            <a:avLst>
              <a:gd name="adj" fmla="val 619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13472" y="2570175"/>
            <a:ext cx="512064" cy="51206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3472" y="2679903"/>
            <a:ext cx="5120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0B0F19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3621735"/>
            <a:ext cx="20734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Create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4051503"/>
            <a:ext cx="207340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One clear action and its output.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43950" y="2826207"/>
            <a:ext cx="201167" cy="0"/>
          </a:xfrm>
          <a:prstGeom prst="line">
            <a:avLst/>
          </a:prstGeom>
          <a:ln w="1905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999982" y="2981655"/>
            <a:ext cx="2439162" cy="2066544"/>
          </a:xfrm>
          <a:prstGeom prst="roundRect">
            <a:avLst>
              <a:gd name="adj" fmla="val 619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63531" y="2570175"/>
            <a:ext cx="512064" cy="51206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3531" y="2679903"/>
            <a:ext cx="5120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0B0F19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2861" y="3621735"/>
            <a:ext cx="20734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2861" y="4051503"/>
            <a:ext cx="207340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One clear action and its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Four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The same four lenses for every option we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86101"/>
            <a:ext cx="5207507" cy="1261110"/>
          </a:xfrm>
          <a:prstGeom prst="roundRect">
            <a:avLst>
              <a:gd name="adj" fmla="val 10151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823845"/>
            <a:ext cx="47320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299333"/>
            <a:ext cx="4732019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Core capability or 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586101"/>
            <a:ext cx="5207507" cy="1261110"/>
          </a:xfrm>
          <a:prstGeom prst="roundRect">
            <a:avLst>
              <a:gd name="adj" fmla="val 10151"/>
            </a:avLst>
          </a:prstGeom>
          <a:solidFill>
            <a:srgbClr val="2B2312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9379" y="2823845"/>
            <a:ext cx="47320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79" y="3299333"/>
            <a:ext cx="4732019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Limitation or weakness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121531"/>
            <a:ext cx="5207507" cy="1261110"/>
          </a:xfrm>
          <a:prstGeom prst="roundRect">
            <a:avLst>
              <a:gd name="adj" fmla="val 10151"/>
            </a:avLst>
          </a:prstGeom>
          <a:solidFill>
            <a:srgbClr val="102B26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359275"/>
            <a:ext cx="47320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834763"/>
            <a:ext cx="4732019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External opening to pursue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4121531"/>
            <a:ext cx="5207507" cy="1261110"/>
          </a:xfrm>
          <a:prstGeom prst="roundRect">
            <a:avLst>
              <a:gd name="adj" fmla="val 10151"/>
            </a:avLst>
          </a:prstGeom>
          <a:solidFill>
            <a:srgbClr val="2E181B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9379" y="4359275"/>
            <a:ext cx="473201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9379" y="4834763"/>
            <a:ext cx="4732019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Threat or uncertainty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The case for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92807"/>
            <a:ext cx="397763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sz="2700" b="1" i="0">
                <a:solidFill>
                  <a:srgbClr val="F8FAFC"/>
                </a:solidFill>
                <a:latin typeface="Segoe UI"/>
              </a:rPr>
              <a:t>A strong editorial claim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538728"/>
            <a:ext cx="64008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767328"/>
            <a:ext cx="37947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6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A short supporting deck that tells the audience what to look for.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1892807"/>
            <a:ext cx="625449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Develop the argument in a right-hand reading column, with a clear evidence point and a closing implication.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84648" y="2318893"/>
            <a:ext cx="625449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84648" y="2465197"/>
            <a:ext cx="625449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59"/>
              </a:lnSpc>
            </a:pPr>
            <a:r>
              <a:rPr sz="1450" b="0" i="0">
                <a:solidFill>
                  <a:srgbClr val="CBD5E1"/>
                </a:solidFill>
                <a:latin typeface="Segoe UI"/>
              </a:rPr>
              <a:t>Avoid turning the column into a wall of text; break dense material into a second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PEOPLE /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The team behind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Who owns which part of the work.</a:t>
            </a:r>
          </a:p>
        </p:txBody>
      </p:sp>
      <p:sp>
        <p:nvSpPr>
          <p:cNvPr id="9" name="Oval 8"/>
          <p:cNvSpPr/>
          <p:nvPr/>
        </p:nvSpPr>
        <p:spPr>
          <a:xfrm>
            <a:off x="1735836" y="2279396"/>
            <a:ext cx="1316736" cy="1316736"/>
          </a:xfrm>
          <a:prstGeom prst="ellipse">
            <a:avLst/>
          </a:prstGeom>
          <a:solidFill>
            <a:srgbClr val="15233F"/>
          </a:solidFill>
          <a:ln w="1524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5836" y="2754884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84"/>
              </a:lnSpc>
            </a:pPr>
            <a:r>
              <a:rPr sz="2200" b="1" i="0">
                <a:solidFill>
                  <a:srgbClr val="60A5FA"/>
                </a:solidFill>
                <a:latin typeface="Segoe UI"/>
              </a:rPr>
              <a:t>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88156"/>
            <a:ext cx="3288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Alex Morgan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199636"/>
            <a:ext cx="3288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60A5FA"/>
                </a:solidFill>
                <a:latin typeface="Segoe UI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583684"/>
            <a:ext cx="29230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Short role summary and relevant expertise.</a:t>
            </a:r>
          </a:p>
        </p:txBody>
      </p:sp>
      <p:sp>
        <p:nvSpPr>
          <p:cNvPr id="14" name="Oval 13"/>
          <p:cNvSpPr/>
          <p:nvPr/>
        </p:nvSpPr>
        <p:spPr>
          <a:xfrm>
            <a:off x="5436107" y="2279396"/>
            <a:ext cx="1316736" cy="1316736"/>
          </a:xfrm>
          <a:prstGeom prst="ellipse">
            <a:avLst/>
          </a:prstGeom>
          <a:solidFill>
            <a:srgbClr val="15233F"/>
          </a:solidFill>
          <a:ln w="1524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6107" y="2754884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84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80" y="3788156"/>
            <a:ext cx="3288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Jordan Lee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80" y="4199636"/>
            <a:ext cx="3288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22D3EE"/>
                </a:solidFill>
                <a:latin typeface="Segoe UI"/>
              </a:rPr>
              <a:t>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960" y="4583684"/>
            <a:ext cx="29230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Short role summary and relevant expertise.</a:t>
            </a:r>
          </a:p>
        </p:txBody>
      </p:sp>
      <p:sp>
        <p:nvSpPr>
          <p:cNvPr id="19" name="Oval 18"/>
          <p:cNvSpPr/>
          <p:nvPr/>
        </p:nvSpPr>
        <p:spPr>
          <a:xfrm>
            <a:off x="9136379" y="2279396"/>
            <a:ext cx="1316736" cy="1316736"/>
          </a:xfrm>
          <a:prstGeom prst="ellipse">
            <a:avLst/>
          </a:prstGeom>
          <a:solidFill>
            <a:srgbClr val="15233F"/>
          </a:solidFill>
          <a:ln w="1524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6379" y="2754884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84"/>
              </a:lnSpc>
            </a:pPr>
            <a:r>
              <a:rPr sz="2200" b="1" i="0">
                <a:solidFill>
                  <a:srgbClr val="34D399"/>
                </a:solidFill>
                <a:latin typeface="Segoe UI"/>
              </a:rPr>
              <a:t>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0351" y="3788156"/>
            <a:ext cx="3288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Sam Taylor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0351" y="4199636"/>
            <a:ext cx="3288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34D399"/>
                </a:solidFill>
                <a:latin typeface="Segoe UI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3231" y="4583684"/>
            <a:ext cx="29230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Short role summary and relevant expertise.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17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22D3EE"/>
                </a:solidFill>
                <a:latin typeface="Segoe U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783080"/>
            <a:ext cx="9966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sz="4000" b="1" i="0">
                <a:solidFill>
                  <a:srgbClr val="F8FAFC"/>
                </a:solidFill>
                <a:latin typeface="Segoe UI"/>
              </a:rPr>
              <a:t>Make the next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 i="0">
                <a:solidFill>
                  <a:srgbClr val="CBD5E1"/>
                </a:solidFill>
                <a:latin typeface="Segoe UI"/>
              </a:rPr>
              <a:t>Decision, discussion and next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794760"/>
            <a:ext cx="914400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78224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0" i="0">
                <a:solidFill>
                  <a:srgbClr val="F8FAFC"/>
                </a:solidFill>
                <a:latin typeface="Segoe UI"/>
              </a:rPr>
              <a:t>Confirm the owner and the date for each follow-up.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988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deckmaker · hello@example.com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What we will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77393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1773936"/>
            <a:ext cx="58791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Context and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7196" y="1810512"/>
            <a:ext cx="40619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Why this deck exists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47088" y="2304288"/>
            <a:ext cx="959205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255117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7088" y="2551176"/>
            <a:ext cx="58791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What the evidence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7196" y="2587752"/>
            <a:ext cx="40619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Findings from the 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47088" y="3081528"/>
            <a:ext cx="959205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332841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3328416"/>
            <a:ext cx="58791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Options and trade-offs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7196" y="3364992"/>
            <a:ext cx="40619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Three routes considered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47088" y="3858768"/>
            <a:ext cx="959205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2688" y="4105655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105655"/>
            <a:ext cx="58791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7196" y="4142231"/>
            <a:ext cx="40619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The proposed direction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47088" y="4636007"/>
            <a:ext cx="959205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32688" y="48828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4882896"/>
            <a:ext cx="58791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Decision and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7196" y="4919472"/>
            <a:ext cx="406194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Owners and dates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47088" y="5413248"/>
            <a:ext cx="959205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VISUAL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The evidence in one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10689336" cy="3703320"/>
          </a:xfrm>
          <a:prstGeom prst="roundRect">
            <a:avLst>
              <a:gd name="adj" fmla="val 2469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332988"/>
            <a:ext cx="106893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FULL-BLEED ARTWORK / PHOTO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596128"/>
            <a:ext cx="10689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Caption: explain why this image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916168"/>
            <a:ext cx="10689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Source / credit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VISUAL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A visual explanation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4917094" cy="4251959"/>
          </a:xfrm>
          <a:prstGeom prst="roundRect">
            <a:avLst>
              <a:gd name="adj" fmla="val 301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698747"/>
            <a:ext cx="45513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93A1B8"/>
                </a:solidFill>
                <a:latin typeface="Segoe UI"/>
              </a:rPr>
              <a:t>IMAGE / ILLUSTRATION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4102" y="1938528"/>
            <a:ext cx="53150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06"/>
              </a:lnSpc>
            </a:pPr>
            <a:r>
              <a:rPr sz="2300" b="1" i="0">
                <a:solidFill>
                  <a:srgbClr val="F8FAFC"/>
                </a:solidFill>
                <a:latin typeface="Segoe UI"/>
              </a:rPr>
              <a:t>A visual explanation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124102" y="281635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5270" y="2715768"/>
            <a:ext cx="50224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What the audience should notice</a:t>
            </a:r>
          </a:p>
        </p:txBody>
      </p:sp>
      <p:sp>
        <p:nvSpPr>
          <p:cNvPr id="13" name="Oval 12"/>
          <p:cNvSpPr/>
          <p:nvPr/>
        </p:nvSpPr>
        <p:spPr>
          <a:xfrm>
            <a:off x="6124102" y="3250120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5270" y="3149536"/>
            <a:ext cx="50224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Why it matters</a:t>
            </a:r>
          </a:p>
        </p:txBody>
      </p:sp>
      <p:sp>
        <p:nvSpPr>
          <p:cNvPr id="15" name="Oval 14"/>
          <p:cNvSpPr/>
          <p:nvPr/>
        </p:nvSpPr>
        <p:spPr>
          <a:xfrm>
            <a:off x="6124102" y="3683889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5270" y="3583305"/>
            <a:ext cx="50224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Implication or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4102" y="5641848"/>
            <a:ext cx="531504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1">
                <a:solidFill>
                  <a:srgbClr val="93A1B8"/>
                </a:solidFill>
                <a:latin typeface="Segoe UI"/>
              </a:rPr>
              <a:t>Illustration placeholder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Trend and takeaway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7054961" cy="4297680"/>
          </a:xfrm>
          <a:prstGeom prst="roundRect">
            <a:avLst>
              <a:gd name="adj" fmla="val 2978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52728" y="4313889"/>
            <a:ext cx="540106" cy="114507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5532120"/>
            <a:ext cx="74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91394" y="3892018"/>
            <a:ext cx="540106" cy="156694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9954" y="5532120"/>
            <a:ext cx="74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0061" y="4042687"/>
            <a:ext cx="540106" cy="14162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8621" y="5532120"/>
            <a:ext cx="74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728" y="3319479"/>
            <a:ext cx="540106" cy="21394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7288" y="5532120"/>
            <a:ext cx="74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Q4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7395" y="2807208"/>
            <a:ext cx="540106" cy="2651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5955" y="5532120"/>
            <a:ext cx="74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Q5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062" y="3078410"/>
            <a:ext cx="540106" cy="2380557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4622" y="5532120"/>
            <a:ext cx="74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Q6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4809" y="1755648"/>
            <a:ext cx="3314334" cy="4297680"/>
          </a:xfrm>
          <a:prstGeom prst="roundRect">
            <a:avLst>
              <a:gd name="adj" fmla="val 3862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2553" y="2029967"/>
            <a:ext cx="283884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KEY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2553" y="2441448"/>
            <a:ext cx="283884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sz="1800" b="1" i="0">
                <a:solidFill>
                  <a:srgbClr val="F8FAFC"/>
                </a:solidFill>
                <a:latin typeface="Segoe UI"/>
              </a:rPr>
              <a:t>The strongest movement occurs in the final period.</a:t>
            </a:r>
          </a:p>
        </p:txBody>
      </p:sp>
      <p:sp>
        <p:nvSpPr>
          <p:cNvPr id="24" name="Oval 23"/>
          <p:cNvSpPr/>
          <p:nvPr/>
        </p:nvSpPr>
        <p:spPr>
          <a:xfrm>
            <a:off x="8362553" y="409651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63721" y="3995928"/>
            <a:ext cx="2655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Growth accelerates after the workflow change</a:t>
            </a:r>
          </a:p>
        </p:txBody>
      </p:sp>
      <p:sp>
        <p:nvSpPr>
          <p:cNvPr id="26" name="Oval 25"/>
          <p:cNvSpPr/>
          <p:nvPr/>
        </p:nvSpPr>
        <p:spPr>
          <a:xfrm>
            <a:off x="8362553" y="4370514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3721" y="4269930"/>
            <a:ext cx="2655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Two regions drive most of the 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2553" y="5641848"/>
            <a:ext cx="283884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Illustrative data - replace with a real source.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Where the drop happens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19</a:t>
            </a:r>
          </a:p>
        </p:txBody>
      </p:sp>
      <p:sp>
        <p:nvSpPr>
          <p:cNvPr id="8" name="Freeform 7"/>
          <p:cNvSpPr/>
          <p:nvPr/>
        </p:nvSpPr>
        <p:spPr>
          <a:xfrm>
            <a:off x="685624435200" y="1605364531200"/>
            <a:ext cx="9774328838400" cy="652179340800"/>
          </a:xfrm>
          <a:custGeom>
            <a:avLst/>
            <a:gdLst/>
            <a:ahLst/>
            <a:cxnLst/>
            <a:rect l="l" t="t" r="r" b="b"/>
            <a:pathLst>
              <a:path w="10689336" h="713232">
                <a:moveTo>
                  <a:pt x="0" y="0"/>
                </a:moveTo>
                <a:lnTo>
                  <a:pt x="10689336" y="0"/>
                </a:lnTo>
                <a:lnTo>
                  <a:pt x="10488168" y="713232"/>
                </a:lnTo>
                <a:lnTo>
                  <a:pt x="201168" y="713232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93177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0424" y="19659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12,400</a:t>
            </a:r>
          </a:p>
        </p:txBody>
      </p:sp>
      <p:sp>
        <p:nvSpPr>
          <p:cNvPr id="11" name="Freeform 10"/>
          <p:cNvSpPr/>
          <p:nvPr/>
        </p:nvSpPr>
        <p:spPr>
          <a:xfrm>
            <a:off x="1223212082400" y="2357879155200"/>
            <a:ext cx="8699152629600" cy="652178426400"/>
          </a:xfrm>
          <a:custGeom>
            <a:avLst/>
            <a:gdLst/>
            <a:ahLst/>
            <a:cxnLst/>
            <a:rect l="l" t="t" r="r" b="b"/>
            <a:pathLst>
              <a:path w="9513509" h="713231">
                <a:moveTo>
                  <a:pt x="0" y="0"/>
                </a:moveTo>
                <a:lnTo>
                  <a:pt x="9513509" y="0"/>
                </a:lnTo>
                <a:lnTo>
                  <a:pt x="9312341" y="713231"/>
                </a:lnTo>
                <a:lnTo>
                  <a:pt x="201168" y="713231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0601" y="2788920"/>
            <a:ext cx="81419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62510" y="278892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5,100</a:t>
            </a:r>
          </a:p>
        </p:txBody>
      </p:sp>
      <p:sp>
        <p:nvSpPr>
          <p:cNvPr id="14" name="Freeform 13"/>
          <p:cNvSpPr/>
          <p:nvPr/>
        </p:nvSpPr>
        <p:spPr>
          <a:xfrm>
            <a:off x="1760799729600" y="3110393779200"/>
            <a:ext cx="7623977335200" cy="652179340800"/>
          </a:xfrm>
          <a:custGeom>
            <a:avLst/>
            <a:gdLst/>
            <a:ahLst/>
            <a:cxnLst/>
            <a:rect l="l" t="t" r="r" b="b"/>
            <a:pathLst>
              <a:path w="8337683" h="713232">
                <a:moveTo>
                  <a:pt x="0" y="0"/>
                </a:moveTo>
                <a:lnTo>
                  <a:pt x="8337683" y="0"/>
                </a:lnTo>
                <a:lnTo>
                  <a:pt x="8136515" y="713232"/>
                </a:lnTo>
                <a:lnTo>
                  <a:pt x="201168" y="713232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8514" y="3611879"/>
            <a:ext cx="696608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Consideration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4597" y="361187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2,050</a:t>
            </a:r>
          </a:p>
        </p:txBody>
      </p:sp>
      <p:sp>
        <p:nvSpPr>
          <p:cNvPr id="17" name="Freeform 16"/>
          <p:cNvSpPr/>
          <p:nvPr/>
        </p:nvSpPr>
        <p:spPr>
          <a:xfrm>
            <a:off x="2298388291200" y="3862908403200"/>
            <a:ext cx="6548800212000" cy="652179340800"/>
          </a:xfrm>
          <a:custGeom>
            <a:avLst/>
            <a:gdLst/>
            <a:ahLst/>
            <a:cxnLst/>
            <a:rect l="l" t="t" r="r" b="b"/>
            <a:pathLst>
              <a:path w="7161855" h="713232">
                <a:moveTo>
                  <a:pt x="0" y="0"/>
                </a:moveTo>
                <a:lnTo>
                  <a:pt x="7161855" y="0"/>
                </a:lnTo>
                <a:lnTo>
                  <a:pt x="6960687" y="713232"/>
                </a:lnTo>
                <a:lnTo>
                  <a:pt x="201168" y="713232"/>
                </a:lnTo>
                <a:close/>
              </a:path>
            </a:pathLst>
          </a:cu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6428" y="4434840"/>
            <a:ext cx="5790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6683" y="443484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740</a:t>
            </a:r>
          </a:p>
        </p:txBody>
      </p:sp>
      <p:sp>
        <p:nvSpPr>
          <p:cNvPr id="20" name="Freeform 19"/>
          <p:cNvSpPr/>
          <p:nvPr/>
        </p:nvSpPr>
        <p:spPr>
          <a:xfrm>
            <a:off x="2835975938400" y="4615423027200"/>
            <a:ext cx="5473624917600" cy="652179340800"/>
          </a:xfrm>
          <a:custGeom>
            <a:avLst/>
            <a:gdLst/>
            <a:ahLst/>
            <a:cxnLst/>
            <a:rect l="l" t="t" r="r" b="b"/>
            <a:pathLst>
              <a:path w="5986029" h="713232">
                <a:moveTo>
                  <a:pt x="0" y="0"/>
                </a:moveTo>
                <a:lnTo>
                  <a:pt x="5986029" y="0"/>
                </a:lnTo>
                <a:lnTo>
                  <a:pt x="5784861" y="713232"/>
                </a:lnTo>
                <a:lnTo>
                  <a:pt x="201168" y="713232"/>
                </a:lnTo>
                <a:close/>
              </a:path>
            </a:pathLst>
          </a:cu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4341" y="5257799"/>
            <a:ext cx="46144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8770" y="525779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310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Maturity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20</a:t>
            </a:r>
          </a:p>
        </p:txBody>
      </p:sp>
      <p:sp>
        <p:nvSpPr>
          <p:cNvPr id="8" name="Freeform 7"/>
          <p:cNvSpPr/>
          <p:nvPr/>
        </p:nvSpPr>
        <p:spPr>
          <a:xfrm>
            <a:off x="4234985078400" y="1605364531200"/>
            <a:ext cx="2675607552000" cy="794320992000"/>
          </a:xfrm>
          <a:custGeom>
            <a:avLst/>
            <a:gdLst/>
            <a:ahLst/>
            <a:cxnLst/>
            <a:rect l="l" t="t" r="r" b="b"/>
            <a:pathLst>
              <a:path w="2926080" h="868680">
                <a:moveTo>
                  <a:pt x="0" y="0"/>
                </a:moveTo>
                <a:lnTo>
                  <a:pt x="2926080" y="0"/>
                </a:lnTo>
                <a:lnTo>
                  <a:pt x="2670048" y="868680"/>
                </a:lnTo>
                <a:lnTo>
                  <a:pt x="256032" y="86868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4316" y="2025395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Advanced</a:t>
            </a:r>
          </a:p>
        </p:txBody>
      </p:sp>
      <p:sp>
        <p:nvSpPr>
          <p:cNvPr id="10" name="Freeform 9"/>
          <p:cNvSpPr/>
          <p:nvPr/>
        </p:nvSpPr>
        <p:spPr>
          <a:xfrm>
            <a:off x="3670598196000" y="2483298259200"/>
            <a:ext cx="3804380402400" cy="794320992000"/>
          </a:xfrm>
          <a:custGeom>
            <a:avLst/>
            <a:gdLst/>
            <a:ahLst/>
            <a:cxnLst/>
            <a:rect l="l" t="t" r="r" b="b"/>
            <a:pathLst>
              <a:path w="4160521" h="868680">
                <a:moveTo>
                  <a:pt x="0" y="0"/>
                </a:moveTo>
                <a:lnTo>
                  <a:pt x="4160521" y="0"/>
                </a:lnTo>
                <a:lnTo>
                  <a:pt x="3904489" y="868680"/>
                </a:lnTo>
                <a:lnTo>
                  <a:pt x="256033" y="868680"/>
                </a:lnTo>
                <a:close/>
              </a:path>
            </a:pathLst>
          </a:cu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7096" y="2985515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Defined</a:t>
            </a:r>
          </a:p>
        </p:txBody>
      </p:sp>
      <p:sp>
        <p:nvSpPr>
          <p:cNvPr id="12" name="Freeform 11"/>
          <p:cNvSpPr/>
          <p:nvPr/>
        </p:nvSpPr>
        <p:spPr>
          <a:xfrm>
            <a:off x="3106212228000" y="3361231072800"/>
            <a:ext cx="4933152338400" cy="794321906400"/>
          </a:xfrm>
          <a:custGeom>
            <a:avLst/>
            <a:gdLst/>
            <a:ahLst/>
            <a:cxnLst/>
            <a:rect l="l" t="t" r="r" b="b"/>
            <a:pathLst>
              <a:path w="5394961" h="868681">
                <a:moveTo>
                  <a:pt x="0" y="0"/>
                </a:moveTo>
                <a:lnTo>
                  <a:pt x="5394961" y="0"/>
                </a:lnTo>
                <a:lnTo>
                  <a:pt x="5138929" y="868681"/>
                </a:lnTo>
                <a:lnTo>
                  <a:pt x="256032" y="868681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9875" y="394563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Repeatable</a:t>
            </a:r>
          </a:p>
        </p:txBody>
      </p:sp>
      <p:sp>
        <p:nvSpPr>
          <p:cNvPr id="14" name="Freeform 13"/>
          <p:cNvSpPr/>
          <p:nvPr/>
        </p:nvSpPr>
        <p:spPr>
          <a:xfrm>
            <a:off x="2541826260000" y="4239165715200"/>
            <a:ext cx="6061924274400" cy="794320992000"/>
          </a:xfrm>
          <a:custGeom>
            <a:avLst/>
            <a:gdLst/>
            <a:ahLst/>
            <a:cxnLst/>
            <a:rect l="l" t="t" r="r" b="b"/>
            <a:pathLst>
              <a:path w="6629401" h="868680">
                <a:moveTo>
                  <a:pt x="0" y="0"/>
                </a:moveTo>
                <a:lnTo>
                  <a:pt x="6629401" y="0"/>
                </a:lnTo>
                <a:lnTo>
                  <a:pt x="6373369" y="868680"/>
                </a:lnTo>
                <a:lnTo>
                  <a:pt x="256032" y="868680"/>
                </a:lnTo>
                <a:close/>
              </a:path>
            </a:pathLst>
          </a:cu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5" y="4905756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Foundational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PROCESS /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How the loop compounds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21</a:t>
            </a:r>
          </a:p>
        </p:txBody>
      </p:sp>
      <p:sp>
        <p:nvSpPr>
          <p:cNvPr id="8" name="Oval 7"/>
          <p:cNvSpPr/>
          <p:nvPr/>
        </p:nvSpPr>
        <p:spPr>
          <a:xfrm>
            <a:off x="4951476" y="3172968"/>
            <a:ext cx="2286000" cy="1554480"/>
          </a:xfrm>
          <a:prstGeom prst="ellipse">
            <a:avLst/>
          </a:prstGeom>
          <a:solidFill>
            <a:srgbClr val="15233F"/>
          </a:solidFill>
          <a:ln w="2032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2916" y="36576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REINFORCING OUTCOME</a:t>
            </a:r>
          </a:p>
        </p:txBody>
      </p:sp>
      <p:sp>
        <p:nvSpPr>
          <p:cNvPr id="10" name="Oval 9"/>
          <p:cNvSpPr/>
          <p:nvPr/>
        </p:nvSpPr>
        <p:spPr>
          <a:xfrm>
            <a:off x="5381244" y="1892808"/>
            <a:ext cx="1426464" cy="731520"/>
          </a:xfrm>
          <a:prstGeom prst="ellipse">
            <a:avLst/>
          </a:prstGeom>
          <a:solidFill>
            <a:srgbClr val="141D33"/>
          </a:solidFill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81244" y="2112264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Attract</a:t>
            </a:r>
          </a:p>
        </p:txBody>
      </p:sp>
      <p:sp>
        <p:nvSpPr>
          <p:cNvPr id="12" name="Oval 11"/>
          <p:cNvSpPr/>
          <p:nvPr/>
        </p:nvSpPr>
        <p:spPr>
          <a:xfrm>
            <a:off x="8718804" y="3584448"/>
            <a:ext cx="1426464" cy="731520"/>
          </a:xfrm>
          <a:prstGeom prst="ellipse">
            <a:avLst/>
          </a:prstGeom>
          <a:solidFill>
            <a:srgbClr val="141D33"/>
          </a:solidFill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8804" y="3803904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Engage</a:t>
            </a:r>
          </a:p>
        </p:txBody>
      </p:sp>
      <p:sp>
        <p:nvSpPr>
          <p:cNvPr id="14" name="Oval 13"/>
          <p:cNvSpPr/>
          <p:nvPr/>
        </p:nvSpPr>
        <p:spPr>
          <a:xfrm>
            <a:off x="5381244" y="5276088"/>
            <a:ext cx="1426464" cy="731520"/>
          </a:xfrm>
          <a:prstGeom prst="ellipse">
            <a:avLst/>
          </a:prstGeom>
          <a:solidFill>
            <a:srgbClr val="141D33"/>
          </a:solidFill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1244" y="5495544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Deliver</a:t>
            </a:r>
          </a:p>
        </p:txBody>
      </p:sp>
      <p:sp>
        <p:nvSpPr>
          <p:cNvPr id="16" name="Oval 15"/>
          <p:cNvSpPr/>
          <p:nvPr/>
        </p:nvSpPr>
        <p:spPr>
          <a:xfrm>
            <a:off x="2043684" y="3584448"/>
            <a:ext cx="1426464" cy="731520"/>
          </a:xfrm>
          <a:prstGeom prst="ellipse">
            <a:avLst/>
          </a:prstGeom>
          <a:solidFill>
            <a:srgbClr val="141D33"/>
          </a:solidFill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43684" y="3803904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Learn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SYSTEMS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Ecosystem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22</a:t>
            </a:r>
          </a:p>
        </p:txBody>
      </p:sp>
      <p:sp>
        <p:nvSpPr>
          <p:cNvPr id="8" name="Oval 7"/>
          <p:cNvSpPr/>
          <p:nvPr/>
        </p:nvSpPr>
        <p:spPr>
          <a:xfrm>
            <a:off x="4814316" y="3291840"/>
            <a:ext cx="2560320" cy="1316736"/>
          </a:xfrm>
          <a:prstGeom prst="ellipse">
            <a:avLst/>
          </a:prstGeom>
          <a:solidFill>
            <a:srgbClr val="141D33"/>
          </a:solidFill>
          <a:ln w="2032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5756" y="3749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CORE PLATFORM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94476" y="2167128"/>
            <a:ext cx="0" cy="1783080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25796" y="1819656"/>
            <a:ext cx="1737360" cy="694944"/>
          </a:xfrm>
          <a:prstGeom prst="roundRect">
            <a:avLst>
              <a:gd name="adj" fmla="val 13157"/>
            </a:avLst>
          </a:prstGeom>
          <a:solidFill>
            <a:srgbClr val="15233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5796" y="203911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Teams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4476" y="3399205"/>
            <a:ext cx="3782960" cy="551003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8756" y="3051733"/>
            <a:ext cx="1737360" cy="694944"/>
          </a:xfrm>
          <a:prstGeom prst="roundRect">
            <a:avLst>
              <a:gd name="adj" fmla="val 13157"/>
            </a:avLst>
          </a:prstGeom>
          <a:solidFill>
            <a:srgbClr val="15233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8756" y="327118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4476" y="3950208"/>
            <a:ext cx="2337998" cy="1442542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63794" y="5045278"/>
            <a:ext cx="1737360" cy="694944"/>
          </a:xfrm>
          <a:prstGeom prst="roundRect">
            <a:avLst>
              <a:gd name="adj" fmla="val 13157"/>
            </a:avLst>
          </a:prstGeom>
          <a:solidFill>
            <a:srgbClr val="15233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3794" y="5264734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Services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756477" y="3950208"/>
            <a:ext cx="2337999" cy="1442542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87797" y="5045278"/>
            <a:ext cx="1737360" cy="694944"/>
          </a:xfrm>
          <a:prstGeom prst="roundRect">
            <a:avLst>
              <a:gd name="adj" fmla="val 13157"/>
            </a:avLst>
          </a:prstGeom>
          <a:solidFill>
            <a:srgbClr val="15233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7797" y="5264734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Partners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2311515" y="3399205"/>
            <a:ext cx="3782961" cy="551003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442835" y="3051733"/>
            <a:ext cx="1737360" cy="694944"/>
          </a:xfrm>
          <a:prstGeom prst="roundRect">
            <a:avLst>
              <a:gd name="adj" fmla="val 13157"/>
            </a:avLst>
          </a:prstGeom>
          <a:solidFill>
            <a:srgbClr val="15233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2835" y="327118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Tools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Delivery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175564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5564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1" y="1755648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1401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Platform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3383280"/>
            <a:ext cx="1068933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23160" y="2212848"/>
            <a:ext cx="2852927" cy="1005840"/>
          </a:xfrm>
          <a:prstGeom prst="roundRect">
            <a:avLst>
              <a:gd name="adj" fmla="val 909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1176" y="2340864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Ingest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22392" y="2212848"/>
            <a:ext cx="2852927" cy="1005840"/>
          </a:xfrm>
          <a:prstGeom prst="roundRect">
            <a:avLst>
              <a:gd name="adj" fmla="val 909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0407" y="2340864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Schema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69417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Experience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4663440"/>
            <a:ext cx="1068933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3493008"/>
            <a:ext cx="2852927" cy="1005840"/>
          </a:xfrm>
          <a:prstGeom prst="roundRect">
            <a:avLst>
              <a:gd name="adj" fmla="val 909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51176" y="3621024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New shell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22392" y="3493008"/>
            <a:ext cx="2852927" cy="1005840"/>
          </a:xfrm>
          <a:prstGeom prst="roundRect">
            <a:avLst>
              <a:gd name="adj" fmla="val 909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0407" y="3621024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9743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Operations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5943600"/>
            <a:ext cx="1068933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423160" y="4773168"/>
            <a:ext cx="2852927" cy="1005840"/>
          </a:xfrm>
          <a:prstGeom prst="roundRect">
            <a:avLst>
              <a:gd name="adj" fmla="val 909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51176" y="4901184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Runbook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22392" y="4773168"/>
            <a:ext cx="2852927" cy="1005840"/>
          </a:xfrm>
          <a:prstGeom prst="roundRect">
            <a:avLst>
              <a:gd name="adj" fmla="val 909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0407" y="4901184"/>
            <a:ext cx="2596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Audit prep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Risk 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18488" y="1892807"/>
            <a:ext cx="9226296" cy="3520439"/>
          </a:xfrm>
          <a:prstGeom prst="roundRect">
            <a:avLst>
              <a:gd name="adj" fmla="val 207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231636" y="1892807"/>
            <a:ext cx="0" cy="3520441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18488" y="3653027"/>
            <a:ext cx="922629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5528" y="192938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F87171"/>
                </a:solidFill>
                <a:latin typeface="Segoe UI"/>
              </a:rPr>
              <a:t>HIGH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15721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LOW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5522976"/>
            <a:ext cx="46131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LOW LIKELIHOOD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5522976"/>
            <a:ext cx="46131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159"/>
              </a:lnSpc>
            </a:pPr>
            <a:r>
              <a:rPr sz="950" b="1" i="0">
                <a:solidFill>
                  <a:srgbClr val="FBBF24"/>
                </a:solidFill>
                <a:latin typeface="Segoe UI"/>
              </a:rPr>
              <a:t>HIGH LIKELIHOOD</a:t>
            </a:r>
          </a:p>
        </p:txBody>
      </p:sp>
      <p:sp>
        <p:nvSpPr>
          <p:cNvPr id="15" name="Oval 14"/>
          <p:cNvSpPr/>
          <p:nvPr/>
        </p:nvSpPr>
        <p:spPr>
          <a:xfrm>
            <a:off x="8142549" y="2548432"/>
            <a:ext cx="237744" cy="23774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4301" y="25392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Vendor delay</a:t>
            </a:r>
          </a:p>
        </p:txBody>
      </p:sp>
      <p:sp>
        <p:nvSpPr>
          <p:cNvPr id="17" name="Oval 16"/>
          <p:cNvSpPr/>
          <p:nvPr/>
        </p:nvSpPr>
        <p:spPr>
          <a:xfrm>
            <a:off x="9249704" y="3674973"/>
            <a:ext cx="237744" cy="23774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1456" y="366582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Scope creep</a:t>
            </a:r>
          </a:p>
        </p:txBody>
      </p:sp>
      <p:sp>
        <p:nvSpPr>
          <p:cNvPr id="19" name="Oval 18"/>
          <p:cNvSpPr/>
          <p:nvPr/>
        </p:nvSpPr>
        <p:spPr>
          <a:xfrm>
            <a:off x="4728819" y="3111703"/>
            <a:ext cx="237744" cy="23774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0571" y="310255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Skill gap</a:t>
            </a:r>
          </a:p>
        </p:txBody>
      </p:sp>
      <p:sp>
        <p:nvSpPr>
          <p:cNvPr id="21" name="Oval 20"/>
          <p:cNvSpPr/>
          <p:nvPr/>
        </p:nvSpPr>
        <p:spPr>
          <a:xfrm>
            <a:off x="6297289" y="4308652"/>
            <a:ext cx="237744" cy="23774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9041" y="42995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Adoption risk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COMPARISON /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Before and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What the intervention 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74747"/>
            <a:ext cx="5161788" cy="2455164"/>
          </a:xfrm>
          <a:prstGeom prst="roundRect">
            <a:avLst>
              <a:gd name="adj" fmla="val 521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867355"/>
            <a:ext cx="46131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Current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7" y="3397707"/>
            <a:ext cx="64008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377261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5" y="3672027"/>
            <a:ext cx="44577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Manual handoffs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7" y="410700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5" y="4006418"/>
            <a:ext cx="44577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No single source of truth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7" y="4441393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4340809"/>
            <a:ext cx="44577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Reporting takes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7356" y="2574747"/>
            <a:ext cx="5161788" cy="2455164"/>
          </a:xfrm>
          <a:prstGeom prst="roundRect">
            <a:avLst>
              <a:gd name="adj" fmla="val 521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6" y="2867355"/>
            <a:ext cx="46131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Future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1676" y="3397707"/>
            <a:ext cx="6400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51676" y="377261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2844" y="3672027"/>
            <a:ext cx="44577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Automated routing</a:t>
            </a:r>
          </a:p>
        </p:txBody>
      </p:sp>
      <p:sp>
        <p:nvSpPr>
          <p:cNvPr id="23" name="Oval 22"/>
          <p:cNvSpPr/>
          <p:nvPr/>
        </p:nvSpPr>
        <p:spPr>
          <a:xfrm>
            <a:off x="6551676" y="4107002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2844" y="4006418"/>
            <a:ext cx="44577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One live dashboard</a:t>
            </a:r>
          </a:p>
        </p:txBody>
      </p:sp>
      <p:sp>
        <p:nvSpPr>
          <p:cNvPr id="25" name="Oval 24"/>
          <p:cNvSpPr/>
          <p:nvPr/>
        </p:nvSpPr>
        <p:spPr>
          <a:xfrm>
            <a:off x="6551676" y="4441393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2844" y="4340809"/>
            <a:ext cx="44577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0" i="0">
                <a:solidFill>
                  <a:srgbClr val="CBD5E1"/>
                </a:solidFill>
                <a:latin typeface="Segoe UI"/>
              </a:rPr>
              <a:t>Reporting in minutes</a:t>
            </a:r>
          </a:p>
        </p:txBody>
      </p:sp>
      <p:sp>
        <p:nvSpPr>
          <p:cNvPr id="27" name="Oval 26"/>
          <p:cNvSpPr/>
          <p:nvPr/>
        </p:nvSpPr>
        <p:spPr>
          <a:xfrm>
            <a:off x="5838444" y="3546297"/>
            <a:ext cx="512064" cy="51206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8444" y="3692601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0B0F19"/>
                </a:solidFill>
                <a:latin typeface="Segoe UI"/>
              </a:rPr>
              <a:t>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EVIDENCE /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Case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48255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80"/>
              </a:lnSpc>
            </a:pPr>
            <a:r>
              <a:rPr sz="4000" b="1" i="0">
                <a:solidFill>
                  <a:srgbClr val="60A5FA"/>
                </a:solidFill>
                <a:latin typeface="Segoe UI"/>
              </a:rPr>
              <a:t>+27%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9864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Illustrative outcome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8" y="1755648"/>
            <a:ext cx="2252472" cy="4206240"/>
          </a:xfrm>
          <a:prstGeom prst="roundRect">
            <a:avLst>
              <a:gd name="adj" fmla="val 568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993391"/>
            <a:ext cx="181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Challenge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2487168"/>
            <a:ext cx="5029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2688336"/>
            <a:ext cx="18135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Define the customer or business problem.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59880" y="1755648"/>
            <a:ext cx="2252472" cy="4206240"/>
          </a:xfrm>
          <a:prstGeom prst="roundRect">
            <a:avLst>
              <a:gd name="adj" fmla="val 568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9336" y="1993391"/>
            <a:ext cx="181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Intervention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79336" y="2487168"/>
            <a:ext cx="5029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9336" y="2688336"/>
            <a:ext cx="18135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Describe the action and why it was chosen.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6672" y="1755648"/>
            <a:ext cx="2252472" cy="4206240"/>
          </a:xfrm>
          <a:prstGeom prst="roundRect">
            <a:avLst>
              <a:gd name="adj" fmla="val 568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6128" y="1993391"/>
            <a:ext cx="181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06128" y="2487168"/>
            <a:ext cx="5029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6128" y="2688336"/>
            <a:ext cx="18135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Quantify the result and state the evidence.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VISUAL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Selected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3392423" cy="1453895"/>
          </a:xfrm>
          <a:prstGeom prst="roundRect">
            <a:avLst>
              <a:gd name="adj" fmla="val 6289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18003"/>
            <a:ext cx="31181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93A1B8"/>
                </a:solidFill>
                <a:latin typeface="Segoe UI"/>
              </a:rPr>
              <a:t>VISUAL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64408"/>
            <a:ext cx="33924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Caption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55648"/>
            <a:ext cx="3392423" cy="1453895"/>
          </a:xfrm>
          <a:prstGeom prst="roundRect">
            <a:avLst>
              <a:gd name="adj" fmla="val 6289"/>
            </a:avLst>
          </a:prstGeom>
          <a:solidFill>
            <a:srgbClr val="0F2A38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18003"/>
            <a:ext cx="31181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93A1B8"/>
                </a:solidFill>
                <a:latin typeface="Segoe UI"/>
              </a:rPr>
              <a:t>VISUAL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3264408"/>
            <a:ext cx="33924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Caption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55648"/>
            <a:ext cx="3392423" cy="1453895"/>
          </a:xfrm>
          <a:prstGeom prst="roundRect">
            <a:avLst>
              <a:gd name="adj" fmla="val 6289"/>
            </a:avLst>
          </a:prstGeom>
          <a:solidFill>
            <a:srgbClr val="102B26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318003"/>
            <a:ext cx="31181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93A1B8"/>
                </a:solidFill>
                <a:latin typeface="Segoe UI"/>
              </a:rPr>
              <a:t>VISUAL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3264408"/>
            <a:ext cx="33924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Caption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49624"/>
            <a:ext cx="3392423" cy="1453895"/>
          </a:xfrm>
          <a:prstGeom prst="roundRect">
            <a:avLst>
              <a:gd name="adj" fmla="val 6289"/>
            </a:avLst>
          </a:prstGeom>
          <a:solidFill>
            <a:srgbClr val="2B2312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411980"/>
            <a:ext cx="31181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93A1B8"/>
                </a:solidFill>
                <a:latin typeface="Segoe UI"/>
              </a:rPr>
              <a:t>VISUAL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358383"/>
            <a:ext cx="33924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Caption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8264" y="3849624"/>
            <a:ext cx="3392423" cy="1453895"/>
          </a:xfrm>
          <a:prstGeom prst="roundRect">
            <a:avLst>
              <a:gd name="adj" fmla="val 6289"/>
            </a:avLst>
          </a:prstGeom>
          <a:solidFill>
            <a:srgbClr val="2E181B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4411980"/>
            <a:ext cx="31181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93A1B8"/>
                </a:solidFill>
                <a:latin typeface="Segoe UI"/>
              </a:rPr>
              <a:t>VISUAL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5358383"/>
            <a:ext cx="33924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Caption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849624"/>
            <a:ext cx="3392423" cy="1453895"/>
          </a:xfrm>
          <a:prstGeom prst="roundRect">
            <a:avLst>
              <a:gd name="adj" fmla="val 6289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4411980"/>
            <a:ext cx="31181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93A1B8"/>
                </a:solidFill>
                <a:latin typeface="Segoe UI"/>
              </a:rPr>
              <a:t>VISUAL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5358383"/>
            <a:ext cx="33924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Caption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PEOPLE /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How the teams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6" y="1892807"/>
            <a:ext cx="3657600" cy="658368"/>
          </a:xfrm>
          <a:prstGeom prst="roundRect">
            <a:avLst>
              <a:gd name="adj" fmla="val 16666"/>
            </a:avLst>
          </a:prstGeom>
          <a:solidFill>
            <a:srgbClr val="141D33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7116" y="2084831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Strategy and goals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476" y="2551176"/>
            <a:ext cx="0" cy="438912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09444" y="2990088"/>
            <a:ext cx="7370063" cy="0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09444" y="2990088"/>
            <a:ext cx="0" cy="365760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8" y="3355848"/>
            <a:ext cx="3319271" cy="1508760"/>
          </a:xfrm>
          <a:prstGeom prst="roundRect">
            <a:avLst>
              <a:gd name="adj" fmla="val 7272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611880"/>
            <a:ext cx="2916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050791"/>
            <a:ext cx="29169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Capabilities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4475" y="2990088"/>
            <a:ext cx="0" cy="365760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34840" y="3355848"/>
            <a:ext cx="3319271" cy="1508760"/>
          </a:xfrm>
          <a:prstGeom prst="roundRect">
            <a:avLst>
              <a:gd name="adj" fmla="val 7272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3611880"/>
            <a:ext cx="2916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Data and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4050791"/>
            <a:ext cx="29169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Shared services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79507" y="2990088"/>
            <a:ext cx="0" cy="365760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19871" y="3355848"/>
            <a:ext cx="3319271" cy="1508760"/>
          </a:xfrm>
          <a:prstGeom prst="roundRect">
            <a:avLst>
              <a:gd name="adj" fmla="val 7272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611880"/>
            <a:ext cx="29169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Enablement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50791"/>
            <a:ext cx="29169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Support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SYSTEMS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10689336" cy="1225295"/>
          </a:xfrm>
          <a:prstGeom prst="roundRect">
            <a:avLst>
              <a:gd name="adj" fmla="val 7462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755648"/>
            <a:ext cx="1920240" cy="1225295"/>
          </a:xfrm>
          <a:prstGeom prst="roundRect">
            <a:avLst>
              <a:gd name="adj" fmla="val 7462"/>
            </a:avLst>
          </a:prstGeom>
          <a:solidFill>
            <a:srgbClr val="15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93976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8658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Channel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956816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2240279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Web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02808" y="1956816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4247" y="2240279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Mobile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8408" y="1956816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9847" y="2240279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Partner portal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108960"/>
            <a:ext cx="10689336" cy="1225295"/>
          </a:xfrm>
          <a:prstGeom prst="roundRect">
            <a:avLst>
              <a:gd name="adj" fmla="val 7462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3108960"/>
            <a:ext cx="1920240" cy="1225295"/>
          </a:xfrm>
          <a:prstGeom prst="roundRect">
            <a:avLst>
              <a:gd name="adj" fmla="val 7462"/>
            </a:avLst>
          </a:prstGeom>
          <a:solidFill>
            <a:srgbClr val="15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4728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3989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Domain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07208" y="3310128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98648" y="3593592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Accounts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02808" y="3310128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4247" y="3593592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Billing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8408" y="3310128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9847" y="3593592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Reporting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462272"/>
            <a:ext cx="10689336" cy="1225295"/>
          </a:xfrm>
          <a:prstGeom prst="roundRect">
            <a:avLst>
              <a:gd name="adj" fmla="val 7462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" y="4462272"/>
            <a:ext cx="1920240" cy="1225295"/>
          </a:xfrm>
          <a:prstGeom prst="roundRect">
            <a:avLst>
              <a:gd name="adj" fmla="val 7462"/>
            </a:avLst>
          </a:prstGeom>
          <a:solidFill>
            <a:srgbClr val="15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006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0" i="0">
                <a:solidFill>
                  <a:srgbClr val="93A1B8"/>
                </a:solidFill>
                <a:latin typeface="Segoe UI"/>
              </a:rPr>
              <a:t>Persistence 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07208" y="4663440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98648" y="4946904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Event store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02808" y="4663440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4247" y="4946904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Warehouse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98408" y="4663440"/>
            <a:ext cx="2749295" cy="822959"/>
          </a:xfrm>
          <a:prstGeom prst="roundRect">
            <a:avLst>
              <a:gd name="adj" fmla="val 8888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9847" y="4946904"/>
            <a:ext cx="2566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Audit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824728"/>
            <a:ext cx="10689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1">
                <a:solidFill>
                  <a:srgbClr val="93A1B8"/>
                </a:solidFill>
                <a:latin typeface="Segoe UI"/>
              </a:rPr>
              <a:t>Label interfaces, ownership, direction of flow and system boundaries.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SWOT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53793"/>
            <a:ext cx="5207507" cy="1261110"/>
          </a:xfrm>
          <a:prstGeom prst="roundRect">
            <a:avLst>
              <a:gd name="adj" fmla="val 10151"/>
            </a:avLst>
          </a:prstGeom>
          <a:solidFill>
            <a:srgbClr val="102B26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53793"/>
            <a:ext cx="64008" cy="126111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391537"/>
            <a:ext cx="46954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34D399"/>
                </a:solidFill>
                <a:latin typeface="Segoe UI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885313"/>
            <a:ext cx="4695444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What we do better than the alternatives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2153793"/>
            <a:ext cx="5207507" cy="1261110"/>
          </a:xfrm>
          <a:prstGeom prst="roundRect">
            <a:avLst>
              <a:gd name="adj" fmla="val 10151"/>
            </a:avLst>
          </a:prstGeom>
          <a:solidFill>
            <a:srgbClr val="2E181B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153793"/>
            <a:ext cx="64008" cy="126111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5" y="2391537"/>
            <a:ext cx="46954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7171"/>
                </a:solidFill>
                <a:latin typeface="Segoe UI"/>
              </a:rPr>
              <a:t>Weaknesses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5" y="2885313"/>
            <a:ext cx="4695444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Where we are behind 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689223"/>
            <a:ext cx="5207507" cy="1261110"/>
          </a:xfrm>
          <a:prstGeom prst="roundRect">
            <a:avLst>
              <a:gd name="adj" fmla="val 10151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689223"/>
            <a:ext cx="64008" cy="126111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7" y="3926967"/>
            <a:ext cx="46954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Opportunities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4420743"/>
            <a:ext cx="4695444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Where the market is moving our 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689223"/>
            <a:ext cx="5207507" cy="1261110"/>
          </a:xfrm>
          <a:prstGeom prst="roundRect">
            <a:avLst>
              <a:gd name="adj" fmla="val 10151"/>
            </a:avLst>
          </a:prstGeom>
          <a:solidFill>
            <a:srgbClr val="2B2312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3689223"/>
            <a:ext cx="64008" cy="126111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5" y="3926967"/>
            <a:ext cx="46954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BBF24"/>
                </a:solidFill>
                <a:latin typeface="Segoe UI"/>
              </a:rPr>
              <a:t>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5" y="4420743"/>
            <a:ext cx="4695444" cy="438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5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What could go wrong if we do nothing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2480310" cy="1600200"/>
          </a:xfrm>
          <a:prstGeom prst="roundRect">
            <a:avLst>
              <a:gd name="adj" fmla="val 685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21511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sz="2400" b="1" i="0">
                <a:solidFill>
                  <a:srgbClr val="60A5FA"/>
                </a:solidFill>
                <a:latin typeface="Segoe UI"/>
              </a:rPr>
              <a:t>98.6%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215112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21511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On track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6149" y="1755648"/>
            <a:ext cx="2480310" cy="1600200"/>
          </a:xfrm>
          <a:prstGeom prst="roundRect">
            <a:avLst>
              <a:gd name="adj" fmla="val 685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0741" y="1956816"/>
            <a:ext cx="21511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sz="2400" b="1" i="0">
                <a:solidFill>
                  <a:srgbClr val="22D3EE"/>
                </a:solidFill>
                <a:latin typeface="Segoe UI"/>
              </a:rPr>
              <a:t>+18%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0741" y="2542032"/>
            <a:ext cx="215112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0741" y="2898648"/>
            <a:ext cx="21511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On track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55648"/>
            <a:ext cx="2480310" cy="1600200"/>
          </a:xfrm>
          <a:prstGeom prst="roundRect">
            <a:avLst>
              <a:gd name="adj" fmla="val 685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7083" y="1956816"/>
            <a:ext cx="21511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sz="2400" b="1" i="0">
                <a:solidFill>
                  <a:srgbClr val="34D399"/>
                </a:solidFill>
                <a:latin typeface="Segoe UI"/>
              </a:rPr>
              <a:t>4.2/5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7083" y="2542032"/>
            <a:ext cx="215112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7083" y="2898648"/>
            <a:ext cx="21511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Stable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8834" y="1755648"/>
            <a:ext cx="2480310" cy="1600200"/>
          </a:xfrm>
          <a:prstGeom prst="roundRect">
            <a:avLst>
              <a:gd name="adj" fmla="val 685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3426" y="1956816"/>
            <a:ext cx="215112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sz="2400" b="1" i="0">
                <a:solidFill>
                  <a:srgbClr val="FBBF24"/>
                </a:solidFill>
                <a:latin typeface="Segoe UI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3426" y="2542032"/>
            <a:ext cx="215112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Active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3426" y="2898648"/>
            <a:ext cx="21511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Watch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30168"/>
            <a:ext cx="10689336" cy="2377439"/>
          </a:xfrm>
          <a:prstGeom prst="roundRect">
            <a:avLst>
              <a:gd name="adj" fmla="val 4615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3831335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Trend / status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52728" y="5173218"/>
            <a:ext cx="329184" cy="51434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51735" y="4864608"/>
            <a:ext cx="329184" cy="82295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0742" y="5024628"/>
            <a:ext cx="329184" cy="66293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9749" y="4601718"/>
            <a:ext cx="329184" cy="108584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48756" y="4407408"/>
            <a:ext cx="329184" cy="1280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47763" y="4727448"/>
            <a:ext cx="329184" cy="96011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46770" y="4224528"/>
            <a:ext cx="329184" cy="146303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5777" y="4487418"/>
            <a:ext cx="329184" cy="1200149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How the number moves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3485565"/>
            <a:ext cx="1135593" cy="197340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568696"/>
            <a:ext cx="1961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68281" y="5458968"/>
            <a:ext cx="929122" cy="0"/>
          </a:xfrm>
          <a:prstGeom prst="line">
            <a:avLst/>
          </a:prstGeom>
          <a:ln w="12700">
            <a:solidFill>
              <a:srgbClr val="93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997403" y="2807208"/>
            <a:ext cx="1135593" cy="67835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4523" y="5568696"/>
            <a:ext cx="1961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+ Growth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32996" y="3485565"/>
            <a:ext cx="929122" cy="0"/>
          </a:xfrm>
          <a:prstGeom prst="line">
            <a:avLst/>
          </a:prstGeom>
          <a:ln w="12700">
            <a:solidFill>
              <a:srgbClr val="93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62118" y="2807208"/>
            <a:ext cx="1135593" cy="678357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9238" y="5568696"/>
            <a:ext cx="1961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- Cost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97711" y="2807208"/>
            <a:ext cx="929122" cy="0"/>
          </a:xfrm>
          <a:prstGeom prst="line">
            <a:avLst/>
          </a:prstGeom>
          <a:ln w="12700">
            <a:solidFill>
              <a:srgbClr val="93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26833" y="2807208"/>
            <a:ext cx="1135593" cy="67835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3953" y="5568696"/>
            <a:ext cx="1961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+ Mix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62426" y="3485565"/>
            <a:ext cx="929122" cy="0"/>
          </a:xfrm>
          <a:prstGeom prst="line">
            <a:avLst/>
          </a:prstGeom>
          <a:ln w="12700">
            <a:solidFill>
              <a:srgbClr val="93A1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191548" y="2807208"/>
            <a:ext cx="1135593" cy="2651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8668" y="5568696"/>
            <a:ext cx="1961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5458968"/>
            <a:ext cx="10506456" cy="18288"/>
          </a:xfrm>
          <a:prstGeom prst="rect">
            <a:avLst/>
          </a:prstGeom>
          <a:solidFill>
            <a:srgbClr val="93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Regional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5879134" cy="4297680"/>
          </a:xfrm>
          <a:prstGeom prst="roundRect">
            <a:avLst>
              <a:gd name="adj" fmla="val 2978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3630168"/>
            <a:ext cx="533049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93A1B8"/>
                </a:solidFill>
                <a:latin typeface="Segoe UI"/>
              </a:rPr>
              <a:t>VISUAL / REGIONAL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142" y="1892807"/>
            <a:ext cx="435300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8"/>
              </a:lnSpc>
            </a:pPr>
            <a:r>
              <a:rPr sz="1900" b="1" i="0">
                <a:solidFill>
                  <a:srgbClr val="F8FAFC"/>
                </a:solidFill>
                <a:latin typeface="Segoe UI"/>
              </a:rPr>
              <a:t>Revenue by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142" y="2532888"/>
            <a:ext cx="261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F8FAFC"/>
                </a:solidFill>
                <a:latin typeface="Segoe UI"/>
              </a:rPr>
              <a:t>Northern Europe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7943" y="2532888"/>
            <a:ext cx="174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64"/>
              </a:lnSpc>
            </a:pPr>
            <a:r>
              <a:rPr sz="1200" b="1" i="0">
                <a:solidFill>
                  <a:srgbClr val="60A5FA"/>
                </a:solidFill>
                <a:latin typeface="Segoe UI"/>
              </a:rPr>
              <a:t>£4.2m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142" y="2843784"/>
            <a:ext cx="4353001" cy="109728"/>
          </a:xfrm>
          <a:prstGeom prst="roundRect">
            <a:avLst>
              <a:gd name="adj" fmla="val 41666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86142" y="2843784"/>
            <a:ext cx="4353001" cy="109728"/>
          </a:xfrm>
          <a:prstGeom prst="roundRect">
            <a:avLst>
              <a:gd name="adj" fmla="val 41666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142" y="3218688"/>
            <a:ext cx="261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F8FAFC"/>
                </a:solidFill>
                <a:latin typeface="Segoe UI"/>
              </a:rPr>
              <a:t>North America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7943" y="3218688"/>
            <a:ext cx="174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64"/>
              </a:lnSpc>
            </a:pPr>
            <a:r>
              <a:rPr sz="1200" b="1" i="0">
                <a:solidFill>
                  <a:srgbClr val="60A5FA"/>
                </a:solidFill>
                <a:latin typeface="Segoe UI"/>
              </a:rPr>
              <a:t>£3.1m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142" y="3529584"/>
            <a:ext cx="4353001" cy="109728"/>
          </a:xfrm>
          <a:prstGeom prst="roundRect">
            <a:avLst>
              <a:gd name="adj" fmla="val 41666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142" y="3529584"/>
            <a:ext cx="3212929" cy="109728"/>
          </a:xfrm>
          <a:prstGeom prst="roundRect">
            <a:avLst>
              <a:gd name="adj" fmla="val 41666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142" y="3904487"/>
            <a:ext cx="261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F8FAFC"/>
                </a:solidFill>
                <a:latin typeface="Segoe UI"/>
              </a:rPr>
              <a:t>Asia Pacific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7943" y="3904487"/>
            <a:ext cx="174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64"/>
              </a:lnSpc>
            </a:pPr>
            <a:r>
              <a:rPr sz="1200" b="1" i="0">
                <a:solidFill>
                  <a:srgbClr val="60A5FA"/>
                </a:solidFill>
                <a:latin typeface="Segoe UI"/>
              </a:rPr>
              <a:t>£1.8m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142" y="4215383"/>
            <a:ext cx="4353001" cy="109728"/>
          </a:xfrm>
          <a:prstGeom prst="roundRect">
            <a:avLst>
              <a:gd name="adj" fmla="val 41666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86142" y="4215383"/>
            <a:ext cx="1865571" cy="109728"/>
          </a:xfrm>
          <a:prstGeom prst="roundRect">
            <a:avLst>
              <a:gd name="adj" fmla="val 41666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142" y="4590288"/>
            <a:ext cx="261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F8FAFC"/>
                </a:solidFill>
                <a:latin typeface="Segoe UI"/>
              </a:rPr>
              <a:t>Latin America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7943" y="4590288"/>
            <a:ext cx="174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464"/>
              </a:lnSpc>
            </a:pPr>
            <a:r>
              <a:rPr sz="1200" b="1" i="0">
                <a:solidFill>
                  <a:srgbClr val="60A5FA"/>
                </a:solidFill>
                <a:latin typeface="Segoe UI"/>
              </a:rPr>
              <a:t>£0.6m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142" y="4901183"/>
            <a:ext cx="4353001" cy="109728"/>
          </a:xfrm>
          <a:prstGeom prst="roundRect">
            <a:avLst>
              <a:gd name="adj" fmla="val 41666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86142" y="4901183"/>
            <a:ext cx="621857" cy="109728"/>
          </a:xfrm>
          <a:prstGeom prst="roundRect">
            <a:avLst>
              <a:gd name="adj" fmla="val 41666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142" y="5733288"/>
            <a:ext cx="43530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Illustrative data - replace with a real source.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EXPERIENCE /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Customer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5225796" cy="566928"/>
          </a:xfrm>
          <a:prstGeom prst="roundRect">
            <a:avLst>
              <a:gd name="adj" fmla="val 16129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50063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32888"/>
            <a:ext cx="50794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Customer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2788920"/>
            <a:ext cx="5079492" cy="475488"/>
          </a:xfrm>
          <a:prstGeom prst="roundRect">
            <a:avLst>
              <a:gd name="adj" fmla="val 1538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4896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Sees the launch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01568"/>
            <a:ext cx="50794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Pain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3657600"/>
            <a:ext cx="5079492" cy="475488"/>
          </a:xfrm>
          <a:prstGeom prst="roundRect">
            <a:avLst>
              <a:gd name="adj" fmla="val 1538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4896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Cannot compare 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70248"/>
            <a:ext cx="50794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60A5FA"/>
                </a:solidFill>
                <a:latin typeface="Segoe UI"/>
              </a:rPr>
              <a:t>Opportunity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" y="4526280"/>
            <a:ext cx="5079492" cy="475488"/>
          </a:xfrm>
          <a:prstGeom prst="roundRect">
            <a:avLst>
              <a:gd name="adj" fmla="val 1538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2"/>
            <a:ext cx="4896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Add a comparison table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3348" y="1755648"/>
            <a:ext cx="5225796" cy="566928"/>
          </a:xfrm>
          <a:prstGeom prst="roundRect">
            <a:avLst>
              <a:gd name="adj" fmla="val 16129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3076" y="1901952"/>
            <a:ext cx="50063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2532888"/>
            <a:ext cx="50794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Customer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0" y="2788920"/>
            <a:ext cx="5079492" cy="475488"/>
          </a:xfrm>
          <a:prstGeom prst="roundRect">
            <a:avLst>
              <a:gd name="adj" fmla="val 1538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2862072"/>
            <a:ext cx="4896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Opens the pricing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3401568"/>
            <a:ext cx="50794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Pain 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6500" y="3657600"/>
            <a:ext cx="5079492" cy="475488"/>
          </a:xfrm>
          <a:prstGeom prst="roundRect">
            <a:avLst>
              <a:gd name="adj" fmla="val 1538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7940" y="3730752"/>
            <a:ext cx="4896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Hidden annual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0" y="4270248"/>
            <a:ext cx="50794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60A5FA"/>
                </a:solidFill>
                <a:latin typeface="Segoe UI"/>
              </a:rPr>
              <a:t>Opportunity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4526280"/>
            <a:ext cx="5079492" cy="475488"/>
          </a:xfrm>
          <a:prstGeom prst="roundRect">
            <a:avLst>
              <a:gd name="adj" fmla="val 1538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7940" y="4599432"/>
            <a:ext cx="48966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Show total cost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NARRATIVE / PERSUASION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From friction to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75688"/>
            <a:ext cx="3319271" cy="3977639"/>
          </a:xfrm>
          <a:prstGeom prst="roundRect">
            <a:avLst>
              <a:gd name="adj" fmla="val 3856"/>
            </a:avLst>
          </a:prstGeom>
          <a:solidFill>
            <a:srgbClr val="2E181B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22576"/>
            <a:ext cx="28437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F87171"/>
                </a:solidFill>
                <a:latin typeface="Segoe U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2843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Work is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200400"/>
            <a:ext cx="2843783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Teams re-key the same data into three systems every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3943" y="3767328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0" i="0">
                <a:solidFill>
                  <a:srgbClr val="93A1B8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075688"/>
            <a:ext cx="3319271" cy="3977639"/>
          </a:xfrm>
          <a:prstGeom prst="roundRect">
            <a:avLst>
              <a:gd name="adj" fmla="val 3856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3" y="2322576"/>
            <a:ext cx="28437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3" y="2670048"/>
            <a:ext cx="2843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Automate the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3200400"/>
            <a:ext cx="2843783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One workflow moves the data and writes back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3767328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0" i="0">
                <a:solidFill>
                  <a:srgbClr val="93A1B8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2075688"/>
            <a:ext cx="3319271" cy="3977639"/>
          </a:xfrm>
          <a:prstGeom prst="roundRect">
            <a:avLst>
              <a:gd name="adj" fmla="val 3856"/>
            </a:avLst>
          </a:prstGeom>
          <a:solidFill>
            <a:srgbClr val="102B26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5" y="2322576"/>
            <a:ext cx="28437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670048"/>
            <a:ext cx="284378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4"/>
              </a:lnSpc>
            </a:pPr>
            <a:r>
              <a:rPr sz="1700" b="1" i="0">
                <a:solidFill>
                  <a:srgbClr val="F8FAFC"/>
                </a:solidFill>
                <a:latin typeface="Segoe UI"/>
              </a:rPr>
              <a:t>Days become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3200400"/>
            <a:ext cx="2843783" cy="2377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Reporting lands daily and errors surface within the hour.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SYSTEMS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Platform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5648" y="1755648"/>
            <a:ext cx="8677655" cy="822960"/>
          </a:xfrm>
          <a:prstGeom prst="roundRect">
            <a:avLst>
              <a:gd name="adj" fmla="val 11111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2807" y="2002536"/>
            <a:ext cx="8403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Experience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331720"/>
            <a:ext cx="8403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What the customer touches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2688336"/>
            <a:ext cx="8677655" cy="822960"/>
          </a:xfrm>
          <a:prstGeom prst="roundRect">
            <a:avLst>
              <a:gd name="adj" fmla="val 11111"/>
            </a:avLst>
          </a:prstGeom>
          <a:solidFill>
            <a:srgbClr val="0F2A38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7" y="2935224"/>
            <a:ext cx="8403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Services and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7" y="3264408"/>
            <a:ext cx="8403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How work is coordinated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5648" y="3621024"/>
            <a:ext cx="8677655" cy="822960"/>
          </a:xfrm>
          <a:prstGeom prst="roundRect">
            <a:avLst>
              <a:gd name="adj" fmla="val 11111"/>
            </a:avLst>
          </a:prstGeom>
          <a:solidFill>
            <a:srgbClr val="102B26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2807" y="3867912"/>
            <a:ext cx="8403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Data and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4197096"/>
            <a:ext cx="8403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Where the truth lives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5648" y="4553712"/>
            <a:ext cx="8677655" cy="822960"/>
          </a:xfrm>
          <a:prstGeom prst="roundRect">
            <a:avLst>
              <a:gd name="adj" fmla="val 11111"/>
            </a:avLst>
          </a:prstGeom>
          <a:solidFill>
            <a:srgbClr val="1F2A44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92807" y="4800600"/>
            <a:ext cx="8403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7" y="5129784"/>
            <a:ext cx="8403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What it runs 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Decision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37</a:t>
            </a:r>
          </a:p>
        </p:txBody>
      </p:sp>
      <p:sp>
        <p:nvSpPr>
          <p:cNvPr id="8" name="Freeform 7"/>
          <p:cNvSpPr/>
          <p:nvPr/>
        </p:nvSpPr>
        <p:spPr>
          <a:xfrm>
            <a:off x="4444016918400" y="1688977267200"/>
            <a:ext cx="2257543872000" cy="1421416512000"/>
          </a:xfrm>
          <a:custGeom>
            <a:avLst/>
            <a:gdLst/>
            <a:ahLst/>
            <a:cxnLst/>
            <a:rect l="l" t="t" r="r" b="b"/>
            <a:pathLst>
              <a:path w="2468880" h="1554480">
                <a:moveTo>
                  <a:pt x="1234440" y="0"/>
                </a:moveTo>
                <a:lnTo>
                  <a:pt x="2468880" y="777240"/>
                </a:lnTo>
                <a:lnTo>
                  <a:pt x="1234440" y="1554480"/>
                </a:lnTo>
                <a:lnTo>
                  <a:pt x="0" y="777240"/>
                </a:lnTo>
                <a:close/>
              </a:path>
            </a:pathLst>
          </a:custGeom>
          <a:solidFill>
            <a:srgbClr val="2B2312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97196" y="2468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Do we build the capability or buy it?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585716" y="3401568"/>
            <a:ext cx="1508760" cy="640080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5556" y="4041648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B26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1860" y="420624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1" i="0">
                <a:solidFill>
                  <a:srgbClr val="60A5FA"/>
                </a:solidFill>
                <a:latin typeface="Segoe UI"/>
              </a:rPr>
              <a:t>YES -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1860" y="4517136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Build in 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1860" y="4882896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CBD5E1"/>
                </a:solidFill>
                <a:latin typeface="Segoe UI"/>
              </a:rPr>
              <a:t>More control, more cost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" y="3401568"/>
            <a:ext cx="1508760" cy="640080"/>
          </a:xfrm>
          <a:prstGeom prst="line">
            <a:avLst/>
          </a:prstGeom>
          <a:ln w="1778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23076" y="4041648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2E181B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420624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1" i="0">
                <a:solidFill>
                  <a:srgbClr val="60A5FA"/>
                </a:solidFill>
                <a:latin typeface="Segoe UI"/>
              </a:rPr>
              <a:t>NO - BUY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4517136"/>
            <a:ext cx="22677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Buy a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9380" y="4882896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CBD5E1"/>
                </a:solidFill>
                <a:latin typeface="Segoe UI"/>
              </a:rPr>
              <a:t>Faster, less control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Priority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603504" cy="566928"/>
          </a:xfrm>
          <a:prstGeom prst="roundRect">
            <a:avLst>
              <a:gd name="adj" fmla="val 16129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01952"/>
            <a:ext cx="603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7739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1792224"/>
            <a:ext cx="71231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Immediate impact / unblock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624328"/>
            <a:ext cx="603504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70632"/>
            <a:ext cx="603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264261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High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2660904"/>
            <a:ext cx="71231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Strong return / near-term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493008"/>
            <a:ext cx="603504" cy="566928"/>
          </a:xfrm>
          <a:prstGeom prst="roundRect">
            <a:avLst>
              <a:gd name="adj" fmla="val 16129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39312"/>
            <a:ext cx="603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51129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Strategic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3529584"/>
            <a:ext cx="71231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Longer-term capability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361688"/>
            <a:ext cx="603504" cy="566928"/>
          </a:xfrm>
          <a:prstGeom prst="roundRect">
            <a:avLst>
              <a:gd name="adj" fmla="val 16129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507992"/>
            <a:ext cx="6035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379975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4398264"/>
            <a:ext cx="71231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Keep visible; revisit later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EMPHASIS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A voice and the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7054961" cy="4251959"/>
          </a:xfrm>
          <a:prstGeom prst="roundRect">
            <a:avLst>
              <a:gd name="adj" fmla="val 301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0704" y="2084831"/>
            <a:ext cx="73152" cy="17373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139696"/>
            <a:ext cx="6049121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 i="1">
                <a:solidFill>
                  <a:srgbClr val="F8FAFC"/>
                </a:solidFill>
                <a:latin typeface="Segoe UI"/>
              </a:rPr>
              <a:t>A concise customer voice that captures the value proposition.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4087368"/>
            <a:ext cx="60491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— Customer / role /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4809" y="1755648"/>
            <a:ext cx="3314334" cy="4251959"/>
          </a:xfrm>
          <a:prstGeom prst="roundRect">
            <a:avLst>
              <a:gd name="adj" fmla="val 3862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7689" y="2624328"/>
            <a:ext cx="29485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26"/>
              </a:lnSpc>
            </a:pPr>
            <a:r>
              <a:rPr sz="3300" b="1" i="0">
                <a:solidFill>
                  <a:srgbClr val="60A5FA"/>
                </a:solidFill>
                <a:latin typeface="Segoe UI"/>
              </a:rPr>
              <a:t>4.8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7689" y="3538728"/>
            <a:ext cx="29485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250" b="1" i="0">
                <a:solidFill>
                  <a:srgbClr val="F8FAFC"/>
                </a:solidFill>
                <a:latin typeface="Segoe UI"/>
              </a:rPr>
              <a:t>Supporting proof point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Myths and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755648"/>
            <a:ext cx="54864" cy="905255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44895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Is the migration a rewrite?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0009" y="1755648"/>
            <a:ext cx="56653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No - the data model and the API surface stay the same.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807208"/>
            <a:ext cx="54864" cy="905255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07208"/>
            <a:ext cx="44895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Who carries the cost in year one?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0009" y="2807208"/>
            <a:ext cx="56653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The platform team absorbs it; the business case starts in year two.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858768"/>
            <a:ext cx="54864" cy="905255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58768"/>
            <a:ext cx="448952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Can we run both systems in parallel?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0009" y="3858768"/>
            <a:ext cx="56653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Yes, for one quarter, with a single reconciliation report.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PRODUCT /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Product spotlight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4206240" cy="4297680"/>
          </a:xfrm>
          <a:prstGeom prst="roundRect">
            <a:avLst>
              <a:gd name="adj" fmla="val 3478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3584448"/>
            <a:ext cx="36575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93A1B8"/>
                </a:solidFill>
                <a:latin typeface="Segoe UI"/>
              </a:rPr>
              <a:t>PRODUCT / ARTWORK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8968" y="1984248"/>
            <a:ext cx="5980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sz="2400" b="1" i="0">
                <a:solidFill>
                  <a:srgbClr val="F8FAFC"/>
                </a:solidFill>
                <a:latin typeface="Segoe UI"/>
              </a:rPr>
              <a:t>Product spotlight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2624328"/>
            <a:ext cx="59801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 i="0">
                <a:solidFill>
                  <a:srgbClr val="60A5FA"/>
                </a:solidFill>
                <a:latin typeface="Segoe UI"/>
              </a:rPr>
              <a:t>One capability, clearly framed</a:t>
            </a:r>
          </a:p>
        </p:txBody>
      </p:sp>
      <p:sp>
        <p:nvSpPr>
          <p:cNvPr id="12" name="Oval 11"/>
          <p:cNvSpPr/>
          <p:nvPr/>
        </p:nvSpPr>
        <p:spPr>
          <a:xfrm>
            <a:off x="5458968" y="3520440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3447288"/>
            <a:ext cx="5705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Benefit-led callout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3656457"/>
            <a:ext cx="5705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What the customer actually gets.</a:t>
            </a:r>
          </a:p>
        </p:txBody>
      </p:sp>
      <p:sp>
        <p:nvSpPr>
          <p:cNvPr id="15" name="Oval 14"/>
          <p:cNvSpPr/>
          <p:nvPr/>
        </p:nvSpPr>
        <p:spPr>
          <a:xfrm>
            <a:off x="5458968" y="4296537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4223385"/>
            <a:ext cx="5705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Supporting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4432554"/>
            <a:ext cx="5705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A real use case or number.</a:t>
            </a:r>
          </a:p>
        </p:txBody>
      </p:sp>
      <p:sp>
        <p:nvSpPr>
          <p:cNvPr id="18" name="Oval 17"/>
          <p:cNvSpPr/>
          <p:nvPr/>
        </p:nvSpPr>
        <p:spPr>
          <a:xfrm>
            <a:off x="5458968" y="5072634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6712" y="4999482"/>
            <a:ext cx="5705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47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Clear differentiation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5208651"/>
            <a:ext cx="5705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Why this and not the alternative.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Financial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29967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612"/>
              </a:lnSpc>
            </a:pPr>
            <a:r>
              <a:rPr sz="4600" b="1" i="0">
                <a:solidFill>
                  <a:srgbClr val="F8FAFC"/>
                </a:solidFill>
                <a:latin typeface="Segoe UI"/>
              </a:rPr>
              <a:t>£12.4m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900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40156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1">
                <a:solidFill>
                  <a:srgbClr val="93A1B8"/>
                </a:solidFill>
                <a:latin typeface="Segoe UI"/>
              </a:rPr>
              <a:t>FY to 31 March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3087427"/>
            <a:ext cx="1886711" cy="25087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2794819"/>
            <a:ext cx="1886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£8.1m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5870448"/>
            <a:ext cx="1886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Subscriptions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91400" y="4666979"/>
            <a:ext cx="1886711" cy="929148"/>
          </a:xfrm>
          <a:prstGeom prst="rect">
            <a:avLst/>
          </a:prstGeom>
          <a:solidFill>
            <a:srgbClr val="15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1400" y="4374371"/>
            <a:ext cx="1886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£3.0m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1400" y="5870448"/>
            <a:ext cx="1886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2431" y="5193497"/>
            <a:ext cx="1886711" cy="402630"/>
          </a:xfrm>
          <a:prstGeom prst="rect">
            <a:avLst/>
          </a:prstGeom>
          <a:solidFill>
            <a:srgbClr val="15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2431" y="4900889"/>
            <a:ext cx="1886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£1.3m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2431" y="5870448"/>
            <a:ext cx="1886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Other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Sources and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1" i="0">
                <a:solidFill>
                  <a:srgbClr val="60A5FA"/>
                </a:solidFill>
                <a:latin typeface="Segoe UI"/>
              </a:rPr>
              <a:t>SOURCES &amp; EVIDENCE</a:t>
            </a:r>
          </a:p>
        </p:txBody>
      </p:sp>
      <p:sp>
        <p:nvSpPr>
          <p:cNvPr id="9" name="Oval 8"/>
          <p:cNvSpPr/>
          <p:nvPr/>
        </p:nvSpPr>
        <p:spPr>
          <a:xfrm>
            <a:off x="795528" y="2350008"/>
            <a:ext cx="100584" cy="10058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258568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Source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569463"/>
            <a:ext cx="10323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Publication date and link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3081527"/>
            <a:ext cx="100584" cy="10058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2990087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Method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7" y="3300983"/>
            <a:ext cx="10323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How the data was collected or calculated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3813048"/>
            <a:ext cx="100584" cy="10058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7" y="3721608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Sample and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4032504"/>
            <a:ext cx="10323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Sample size, scope and reporting period</a:t>
            </a:r>
          </a:p>
        </p:txBody>
      </p:sp>
      <p:sp>
        <p:nvSpPr>
          <p:cNvPr id="18" name="Oval 17"/>
          <p:cNvSpPr/>
          <p:nvPr/>
        </p:nvSpPr>
        <p:spPr>
          <a:xfrm>
            <a:off x="795528" y="4544568"/>
            <a:ext cx="100584" cy="100584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7" y="4453128"/>
            <a:ext cx="10323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" y="4764024"/>
            <a:ext cx="10323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Known limitations, assumptions and exclusions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92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REF-01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792224"/>
            <a:ext cx="9134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F8FAFC"/>
                </a:solidFill>
                <a:latin typeface="Segoe UI"/>
              </a:rPr>
              <a:t>Reference item / detailed supporting information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304288"/>
            <a:ext cx="10689336" cy="0"/>
          </a:xfrm>
          <a:prstGeom prst="line">
            <a:avLst/>
          </a:prstGeom>
          <a:ln w="9525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4323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REF-02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432304"/>
            <a:ext cx="9134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F8FAFC"/>
                </a:solidFill>
                <a:latin typeface="Segoe UI"/>
              </a:rPr>
              <a:t>Reference item / detailed supporting information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2944368"/>
            <a:ext cx="10689336" cy="0"/>
          </a:xfrm>
          <a:prstGeom prst="line">
            <a:avLst/>
          </a:prstGeom>
          <a:ln w="9525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9808" y="30723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REF-03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3072384"/>
            <a:ext cx="9134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F8FAFC"/>
                </a:solidFill>
                <a:latin typeface="Segoe UI"/>
              </a:rPr>
              <a:t>Reference item / detailed supporting information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3584447"/>
            <a:ext cx="10689336" cy="0"/>
          </a:xfrm>
          <a:prstGeom prst="line">
            <a:avLst/>
          </a:prstGeom>
          <a:ln w="9525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808" y="3712463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REF-04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712463"/>
            <a:ext cx="91348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F8FAFC"/>
                </a:solidFill>
                <a:latin typeface="Segoe UI"/>
              </a:rPr>
              <a:t>Reference item / detailed supporting information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" y="4224528"/>
            <a:ext cx="10689336" cy="0"/>
          </a:xfrm>
          <a:prstGeom prst="line">
            <a:avLst/>
          </a:prstGeom>
          <a:ln w="9525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sz="12000" b="1" i="0">
                <a:solidFill>
                  <a:srgbClr val="60A5FA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29184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22D3EE"/>
                </a:solidFill>
                <a:latin typeface="Segoe U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sz="3600" b="1" i="0">
                <a:solidFill>
                  <a:srgbClr val="F8FAFC"/>
                </a:solidFill>
                <a:latin typeface="Segoe UI"/>
              </a:rPr>
              <a:t>The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4572000"/>
            <a:ext cx="914400" cy="548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84632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0" i="0">
                <a:solidFill>
                  <a:srgbClr val="CBD5E1"/>
                </a:solidFill>
                <a:latin typeface="Segoe UI"/>
              </a:rPr>
              <a:t>What the data actually says about the market.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How the options compare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4544" y="2075688"/>
            <a:ext cx="2207239" cy="457200"/>
          </a:xfrm>
          <a:prstGeom prst="roundRect">
            <a:avLst>
              <a:gd name="adj" fmla="val 1600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5984" y="2194560"/>
            <a:ext cx="202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60A5FA"/>
                </a:solidFill>
                <a:latin typeface="Segoe UI"/>
              </a:rPr>
              <a:t>Option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14936" y="2075688"/>
            <a:ext cx="2207239" cy="457200"/>
          </a:xfrm>
          <a:prstGeom prst="roundRect">
            <a:avLst>
              <a:gd name="adj" fmla="val 1600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6376" y="2194560"/>
            <a:ext cx="202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Option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95328" y="2075688"/>
            <a:ext cx="2207239" cy="457200"/>
          </a:xfrm>
          <a:prstGeom prst="roundRect">
            <a:avLst>
              <a:gd name="adj" fmla="val 1600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6768" y="2194560"/>
            <a:ext cx="202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Option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770632"/>
            <a:ext cx="3665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Time to first release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34544" y="2697480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5984" y="2779776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8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4936" y="2697480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6376" y="2779776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3 weeks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5328" y="2697480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6768" y="2779776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5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429000"/>
            <a:ext cx="3665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Upfront investment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4544" y="3355848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5984" y="3438144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4936" y="3355848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6376" y="3438144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95328" y="3355848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6768" y="3438144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087368"/>
            <a:ext cx="3665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Control of roadmap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34544" y="4014216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5984" y="4096512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Full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14936" y="4014216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6376" y="4096512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Shared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95328" y="4014216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6768" y="4096512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Limited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745736"/>
            <a:ext cx="3665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Ongoing licence cost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34544" y="4672584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5984" y="4754880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None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4936" y="4672584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06376" y="4754880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Medium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95328" y="4672584"/>
            <a:ext cx="2207239" cy="566928"/>
          </a:xfrm>
          <a:prstGeom prst="roundRect">
            <a:avLst>
              <a:gd name="adj" fmla="val 9677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6768" y="4754880"/>
            <a:ext cx="20243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Low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PROCESS /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How to get there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60704" y="1984248"/>
            <a:ext cx="0" cy="3428999"/>
          </a:xfrm>
          <a:prstGeom prst="line">
            <a:avLst/>
          </a:prstGeom>
          <a:ln w="254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49808" y="1755648"/>
            <a:ext cx="621792" cy="62179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11095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0B0F19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773936"/>
            <a:ext cx="9592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3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Pick the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7" y="2176272"/>
            <a:ext cx="95920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Name one accountable person per workstream before anything else moves.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2807208"/>
            <a:ext cx="621792" cy="62179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62656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0B0F19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7" y="2825496"/>
            <a:ext cx="9592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3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Freeze the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7" y="3227832"/>
            <a:ext cx="95920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Write down what is out of scope so the timeline survives contact with reality.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3858768"/>
            <a:ext cx="621792" cy="62179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14215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0B0F19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3877055"/>
            <a:ext cx="9592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3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Ship a thin slice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4279392"/>
            <a:ext cx="95920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Put one end-to-end path in front of users, then widen it.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" y="4910327"/>
            <a:ext cx="621792" cy="62179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065775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0B0F19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7" y="4928615"/>
            <a:ext cx="9592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3"/>
              </a:lnSpc>
            </a:pPr>
            <a:r>
              <a:rPr sz="1650" b="1" i="0">
                <a:solidFill>
                  <a:srgbClr val="F8FAFC"/>
                </a:solidFill>
                <a:latin typeface="Segoe UI"/>
              </a:rPr>
              <a:t>Measure and repeat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7" y="5330951"/>
            <a:ext cx="95920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Agree the metric, review it weekly, and change only what the metric shows.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The headline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01368"/>
            <a:ext cx="106893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>
                <a:solidFill>
                  <a:srgbClr val="60A5FA"/>
                </a:solidFill>
                <a:latin typeface="Segoe UI"/>
              </a:rPr>
              <a:t>+27%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6440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8"/>
              </a:lnSpc>
            </a:pPr>
            <a:r>
              <a:rPr sz="1900" b="1" i="0">
                <a:solidFill>
                  <a:srgbClr val="F8FAFC"/>
                </a:solidFill>
                <a:latin typeface="Segoe UI"/>
              </a:rPr>
              <a:t>Conversion 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749039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25"/>
              </a:lnSpc>
            </a:pPr>
            <a:r>
              <a:rPr sz="1250" b="0" i="0">
                <a:solidFill>
                  <a:srgbClr val="93A1B8"/>
                </a:solidFill>
                <a:latin typeface="Segoe UI"/>
              </a:rPr>
              <a:t>Measured against the pre-launch baseline over 12 weeks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453128"/>
            <a:ext cx="3380232" cy="960120"/>
          </a:xfrm>
          <a:prstGeom prst="roundRect">
            <a:avLst>
              <a:gd name="adj" fmla="val 11428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617720"/>
            <a:ext cx="3087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8"/>
              </a:lnSpc>
            </a:pPr>
            <a:r>
              <a:rPr sz="1900" b="1" i="0">
                <a:solidFill>
                  <a:srgbClr val="22D3EE"/>
                </a:solidFill>
                <a:latin typeface="Segoe UI"/>
              </a:rPr>
              <a:t>12wk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020056"/>
            <a:ext cx="3087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Measured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4360" y="4453128"/>
            <a:ext cx="3380232" cy="960120"/>
          </a:xfrm>
          <a:prstGeom prst="roundRect">
            <a:avLst>
              <a:gd name="adj" fmla="val 11428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0664" y="4617720"/>
            <a:ext cx="3087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8"/>
              </a:lnSpc>
            </a:pPr>
            <a:r>
              <a:rPr sz="1900" b="1" i="0">
                <a:solidFill>
                  <a:srgbClr val="22D3EE"/>
                </a:solidFill>
                <a:latin typeface="Segoe UI"/>
              </a:rPr>
              <a:t>4.1%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0664" y="5020056"/>
            <a:ext cx="3087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Baseline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4453128"/>
            <a:ext cx="3380232" cy="960120"/>
          </a:xfrm>
          <a:prstGeom prst="roundRect">
            <a:avLst>
              <a:gd name="adj" fmla="val 11428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5215" y="4617720"/>
            <a:ext cx="308762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8"/>
              </a:lnSpc>
            </a:pPr>
            <a:r>
              <a:rPr sz="1900" b="1" i="0">
                <a:solidFill>
                  <a:srgbClr val="22D3EE"/>
                </a:solidFill>
                <a:latin typeface="Segoe UI"/>
              </a:rPr>
              <a:t>n=2,400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5215" y="5020056"/>
            <a:ext cx="30876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Sample size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PRODUCT /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Simple, transparent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3355848" cy="4343400"/>
          </a:xfrm>
          <a:prstGeom prst="roundRect">
            <a:avLst>
              <a:gd name="adj" fmla="val 381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84248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14015"/>
            <a:ext cx="2843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15"/>
              </a:lnSpc>
            </a:pPr>
            <a:r>
              <a:rPr sz="2800" b="1" i="0">
                <a:solidFill>
                  <a:srgbClr val="60A5FA"/>
                </a:solidFill>
                <a:latin typeface="Segoe UI"/>
              </a:rPr>
              <a:t>$19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27355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172968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1 project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573779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473195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5 seats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874007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773423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Email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1572768"/>
            <a:ext cx="3355848" cy="4526280"/>
          </a:xfrm>
          <a:prstGeom prst="roundRect">
            <a:avLst>
              <a:gd name="adj" fmla="val 3814"/>
            </a:avLst>
          </a:prstGeom>
          <a:solidFill>
            <a:srgbClr val="15233F"/>
          </a:solidFill>
          <a:ln w="2032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1984248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414015"/>
            <a:ext cx="2843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15"/>
              </a:lnSpc>
            </a:pPr>
            <a:r>
              <a:rPr sz="2800" b="1" i="0">
                <a:solidFill>
                  <a:srgbClr val="60A5FA"/>
                </a:solidFill>
                <a:latin typeface="Segoe UI"/>
              </a:rPr>
              <a:t>$49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86537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911095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37"/>
              </a:lnSpc>
            </a:pPr>
            <a:r>
              <a:rPr sz="850" b="1" i="0">
                <a:solidFill>
                  <a:srgbClr val="0B0F19"/>
                </a:solidFill>
                <a:latin typeface="Segoe UI"/>
              </a:rPr>
              <a:t>POPULAR</a:t>
            </a:r>
          </a:p>
        </p:txBody>
      </p:sp>
      <p:sp>
        <p:nvSpPr>
          <p:cNvPr id="22" name="Oval 21"/>
          <p:cNvSpPr/>
          <p:nvPr/>
        </p:nvSpPr>
        <p:spPr>
          <a:xfrm>
            <a:off x="4672584" y="327355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3172968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10 projects</a:t>
            </a:r>
          </a:p>
        </p:txBody>
      </p:sp>
      <p:sp>
        <p:nvSpPr>
          <p:cNvPr id="24" name="Oval 23"/>
          <p:cNvSpPr/>
          <p:nvPr/>
        </p:nvSpPr>
        <p:spPr>
          <a:xfrm>
            <a:off x="4672584" y="3573779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3473195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25 seats</a:t>
            </a:r>
          </a:p>
        </p:txBody>
      </p:sp>
      <p:sp>
        <p:nvSpPr>
          <p:cNvPr id="26" name="Oval 25"/>
          <p:cNvSpPr/>
          <p:nvPr/>
        </p:nvSpPr>
        <p:spPr>
          <a:xfrm>
            <a:off x="4672584" y="3874007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3752" y="3773423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Priority support</a:t>
            </a:r>
          </a:p>
        </p:txBody>
      </p:sp>
      <p:sp>
        <p:nvSpPr>
          <p:cNvPr id="28" name="Oval 27"/>
          <p:cNvSpPr/>
          <p:nvPr/>
        </p:nvSpPr>
        <p:spPr>
          <a:xfrm>
            <a:off x="4672584" y="4174235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73752" y="4073651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Audit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1755648"/>
            <a:ext cx="3355848" cy="4343400"/>
          </a:xfrm>
          <a:prstGeom prst="roundRect">
            <a:avLst>
              <a:gd name="adj" fmla="val 381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1984248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414015"/>
            <a:ext cx="2843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15"/>
              </a:lnSpc>
            </a:pPr>
            <a:r>
              <a:rPr sz="2800" b="1" i="0">
                <a:solidFill>
                  <a:srgbClr val="60A5FA"/>
                </a:solidFill>
                <a:latin typeface="Segoe UI"/>
              </a:rPr>
              <a:t>Custom</a:t>
            </a:r>
          </a:p>
        </p:txBody>
      </p:sp>
      <p:sp>
        <p:nvSpPr>
          <p:cNvPr id="33" name="Oval 32"/>
          <p:cNvSpPr/>
          <p:nvPr/>
        </p:nvSpPr>
        <p:spPr>
          <a:xfrm>
            <a:off x="8339327" y="327355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172968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Unlimited projects</a:t>
            </a:r>
          </a:p>
        </p:txBody>
      </p:sp>
      <p:sp>
        <p:nvSpPr>
          <p:cNvPr id="35" name="Oval 34"/>
          <p:cNvSpPr/>
          <p:nvPr/>
        </p:nvSpPr>
        <p:spPr>
          <a:xfrm>
            <a:off x="8339327" y="3573779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6" y="3473195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SSO and SCIM</a:t>
            </a:r>
          </a:p>
        </p:txBody>
      </p:sp>
      <p:sp>
        <p:nvSpPr>
          <p:cNvPr id="37" name="Oval 36"/>
          <p:cNvSpPr/>
          <p:nvPr/>
        </p:nvSpPr>
        <p:spPr>
          <a:xfrm>
            <a:off x="8339327" y="3874007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0496" y="3773423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Dedicated CSM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Mission, vision,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The three statements that guide every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710078"/>
            <a:ext cx="3343655" cy="1778507"/>
          </a:xfrm>
          <a:prstGeom prst="roundRect">
            <a:avLst>
              <a:gd name="adj" fmla="val 616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02686"/>
            <a:ext cx="28315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Mission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514750"/>
            <a:ext cx="2831591" cy="18288"/>
          </a:xfrm>
          <a:prstGeom prst="rect">
            <a:avLst/>
          </a:prstGeom>
          <a:solidFill>
            <a:srgbClr val="2C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97630"/>
            <a:ext cx="2831591" cy="635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What we do, for whom, and why it matters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2648" y="2710078"/>
            <a:ext cx="3343655" cy="1778507"/>
          </a:xfrm>
          <a:prstGeom prst="roundRect">
            <a:avLst>
              <a:gd name="adj" fmla="val 616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8680" y="3002686"/>
            <a:ext cx="28315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22D3EE"/>
                </a:solidFill>
                <a:latin typeface="Segoe UI"/>
              </a:rPr>
              <a:t>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78680" y="3514750"/>
            <a:ext cx="2831591" cy="18288"/>
          </a:xfrm>
          <a:prstGeom prst="rect">
            <a:avLst/>
          </a:prstGeom>
          <a:solidFill>
            <a:srgbClr val="2C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8680" y="3697630"/>
            <a:ext cx="2831591" cy="635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The world we are building towards over the next five years.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2710078"/>
            <a:ext cx="3343655" cy="1778507"/>
          </a:xfrm>
          <a:prstGeom prst="roundRect">
            <a:avLst>
              <a:gd name="adj" fmla="val 616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0" y="3002686"/>
            <a:ext cx="28315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34D399"/>
                </a:solidFill>
                <a:latin typeface="Segoe UI"/>
              </a:rPr>
              <a:t>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51520" y="3514750"/>
            <a:ext cx="2831591" cy="18288"/>
          </a:xfrm>
          <a:prstGeom prst="rect">
            <a:avLst/>
          </a:prstGeom>
          <a:solidFill>
            <a:srgbClr val="2C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0" y="3697630"/>
            <a:ext cx="2831591" cy="6355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The behaviours we reward when the pressure is 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PEOPLE /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Who we are designing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3355848" cy="4251959"/>
          </a:xfrm>
          <a:prstGeom prst="roundRect">
            <a:avLst>
              <a:gd name="adj" fmla="val 381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7" y="2011680"/>
            <a:ext cx="713232" cy="71323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231136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sz="1800" b="1" i="0">
                <a:solidFill>
                  <a:srgbClr val="60A5FA"/>
                </a:solidFill>
                <a:latin typeface="Segoe UI"/>
              </a:rPr>
              <a:t>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066543"/>
            <a:ext cx="2075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Ops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414015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Runs a 40-person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29260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898648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Time poor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3236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209544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Evidence driven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7" y="3547872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40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Delegates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3931920"/>
            <a:ext cx="2807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Needs one number, not three, and an owner for every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1755648"/>
            <a:ext cx="3355848" cy="4251959"/>
          </a:xfrm>
          <a:prstGeom prst="roundRect">
            <a:avLst>
              <a:gd name="adj" fmla="val 381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90872" y="2011680"/>
            <a:ext cx="713232" cy="71323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231136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sz="1800" b="1" i="0">
                <a:solidFill>
                  <a:srgbClr val="22D3EE"/>
                </a:solidFill>
                <a:latin typeface="Segoe U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2066543"/>
            <a:ext cx="2075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Analyst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2" y="2414015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Reporting specialist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90872" y="29260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2898648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Detail oriented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90872" y="3236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6904" y="3209544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Monthly rhythm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90872" y="3547872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46904" y="3520440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Spreadsheet native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931920"/>
            <a:ext cx="2807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Loses most of a day every month to manual reconciliation.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1755648"/>
            <a:ext cx="3355848" cy="4251959"/>
          </a:xfrm>
          <a:prstGeom prst="roundRect">
            <a:avLst>
              <a:gd name="adj" fmla="val 3814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57616" y="2011680"/>
            <a:ext cx="713232" cy="71323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2231136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sz="1800" b="1" i="0">
                <a:solidFill>
                  <a:srgbClr val="34D399"/>
                </a:solidFill>
                <a:latin typeface="Segoe UI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2066543"/>
            <a:ext cx="20756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Exec sponsor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2414015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Budget holder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57616" y="2926080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13648" y="2898648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Outcome focused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57616" y="323697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3209544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Short on 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7616" y="3547872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13648" y="3520440"/>
            <a:ext cx="2532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Risk aware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3931920"/>
            <a:ext cx="2807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150" b="0" i="0">
                <a:solidFill>
                  <a:srgbClr val="93A1B8"/>
                </a:solidFill>
                <a:latin typeface="Segoe UI"/>
              </a:rPr>
              <a:t>Will back the change if the payback period is under a year.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Business model canvas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55648"/>
            <a:ext cx="2035454" cy="274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10512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21408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Who we rely 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3278" y="1755648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13278" y="1755648"/>
            <a:ext cx="2035454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3006" y="1810512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006" y="2121408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What we do daily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6748" y="1755648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6748" y="1755648"/>
            <a:ext cx="2035454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6476" y="1810512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6476" y="2121408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What we 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0219" y="1755648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40219" y="1755648"/>
            <a:ext cx="2035454" cy="2743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9947" y="1810512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9947" y="2121408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What the customer gets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3689" y="1755648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03689" y="1755648"/>
            <a:ext cx="2035454" cy="2743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13417" y="1810512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3417" y="2121408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Who we serve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014216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4014216"/>
            <a:ext cx="2035454" cy="274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069080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Channels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379976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How we reach them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13278" y="4014216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13278" y="4014216"/>
            <a:ext cx="2035454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23006" y="4069080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Segments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3006" y="4379976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Which market we win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6748" y="4014216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6748" y="4014216"/>
            <a:ext cx="2035454" cy="274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86476" y="4069080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Costs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86476" y="4379976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What we spend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40219" y="4014216"/>
            <a:ext cx="2035454" cy="2130552"/>
          </a:xfrm>
          <a:prstGeom prst="roundRect">
            <a:avLst>
              <a:gd name="adj" fmla="val 3593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40219" y="4014216"/>
            <a:ext cx="2035454" cy="2743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9947" y="4069080"/>
            <a:ext cx="18159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Revenue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9947" y="4379976"/>
            <a:ext cx="1815998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7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What we earn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Readiness by workstream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92224"/>
            <a:ext cx="5879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Data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8942" y="1810512"/>
            <a:ext cx="48102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On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76272"/>
            <a:ext cx="10689336" cy="164592"/>
          </a:xfrm>
          <a:prstGeom prst="roundRect">
            <a:avLst>
              <a:gd name="adj" fmla="val 44444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176272"/>
            <a:ext cx="9085935" cy="164592"/>
          </a:xfrm>
          <a:prstGeom prst="roundRect">
            <a:avLst>
              <a:gd name="adj" fmla="val 4444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07624" y="213969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42"/>
              </a:lnSpc>
            </a:pPr>
            <a:r>
              <a:rPr sz="1100" b="1" i="0">
                <a:solidFill>
                  <a:srgbClr val="22D3EE"/>
                </a:solidFill>
                <a:latin typeface="Segoe UI"/>
              </a:rP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15184"/>
            <a:ext cx="5879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Integration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8942" y="2633472"/>
            <a:ext cx="48102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Needs a second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999232"/>
            <a:ext cx="10689336" cy="164592"/>
          </a:xfrm>
          <a:prstGeom prst="roundRect">
            <a:avLst>
              <a:gd name="adj" fmla="val 44444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2999232"/>
            <a:ext cx="6413601" cy="164592"/>
          </a:xfrm>
          <a:prstGeom prst="roundRect">
            <a:avLst>
              <a:gd name="adj" fmla="val 4444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07624" y="296265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42"/>
              </a:lnSpc>
            </a:pPr>
            <a:r>
              <a:rPr sz="1100" b="1" i="0">
                <a:solidFill>
                  <a:srgbClr val="22D3EE"/>
                </a:solidFill>
                <a:latin typeface="Segoe UI"/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438144"/>
            <a:ext cx="5879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User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8942" y="3456432"/>
            <a:ext cx="48102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Behind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822191"/>
            <a:ext cx="10689336" cy="164592"/>
          </a:xfrm>
          <a:prstGeom prst="roundRect">
            <a:avLst>
              <a:gd name="adj" fmla="val 44444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741267" cy="164592"/>
          </a:xfrm>
          <a:prstGeom prst="roundRect">
            <a:avLst>
              <a:gd name="adj" fmla="val 4444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07624" y="3785615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42"/>
              </a:lnSpc>
            </a:pPr>
            <a:r>
              <a:rPr sz="1100" b="1" i="0">
                <a:solidFill>
                  <a:srgbClr val="22D3EE"/>
                </a:solidFill>
                <a:latin typeface="Segoe UI"/>
              </a:rPr>
              <a:t>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61104"/>
            <a:ext cx="58791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Comms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8942" y="4279392"/>
            <a:ext cx="48102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On track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645152"/>
            <a:ext cx="10689336" cy="164592"/>
          </a:xfrm>
          <a:prstGeom prst="roundRect">
            <a:avLst>
              <a:gd name="adj" fmla="val 44444"/>
            </a:avLst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" y="4645152"/>
            <a:ext cx="7482535" cy="164592"/>
          </a:xfrm>
          <a:prstGeom prst="roundRect">
            <a:avLst>
              <a:gd name="adj" fmla="val 4444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07624" y="4608576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42"/>
              </a:lnSpc>
            </a:pPr>
            <a:r>
              <a:rPr sz="1100" b="1" i="0">
                <a:solidFill>
                  <a:srgbClr val="22D3EE"/>
                </a:solidFill>
                <a:latin typeface="Segoe UI"/>
              </a:rPr>
              <a:t>70%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Where effort lands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1461" y="1755648"/>
            <a:ext cx="2084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5882" y="1755648"/>
            <a:ext cx="2084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0302" y="1755648"/>
            <a:ext cx="2084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4723" y="1755648"/>
            <a:ext cx="20844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81"/>
              </a:lnSpc>
            </a:pPr>
            <a:r>
              <a:rPr sz="1050" b="1" i="0">
                <a:solidFill>
                  <a:srgbClr val="93A1B8"/>
                </a:solidFill>
                <a:latin typeface="Segoe UI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86812"/>
            <a:ext cx="2214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F8FAFC"/>
                </a:solidFill>
                <a:latin typeface="Segoe UI"/>
              </a:rPr>
              <a:t>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8893" y="21945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8893" y="26959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3314" y="21945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3314" y="26959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50%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7734" y="21945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7734" y="26959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0B0F19"/>
                </a:solidFill>
                <a:latin typeface="Segoe UI"/>
              </a:rPr>
              <a:t>80%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82155" y="21945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2155" y="26959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982212"/>
            <a:ext cx="2214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F8FAFC"/>
                </a:solidFill>
                <a:latin typeface="Segoe UI"/>
              </a:rPr>
              <a:t>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28893" y="34899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8893" y="39913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0B0F19"/>
                </a:solidFill>
                <a:latin typeface="Segoe UI"/>
              </a:rPr>
              <a:t>60%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3314" y="34899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3314" y="39913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40%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7734" y="34899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7734" y="39913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30%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82155" y="34899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2155" y="39913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0B0F19"/>
                </a:solidFill>
                <a:latin typeface="Segoe UI"/>
              </a:rPr>
              <a:t>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77612"/>
            <a:ext cx="22144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F8FAFC"/>
                </a:solidFill>
                <a:latin typeface="Segoe UI"/>
              </a:rPr>
              <a:t>Operations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28893" y="47853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28893" y="52867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30%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3314" y="47853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3314" y="52867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0B0F19"/>
                </a:solidFill>
                <a:latin typeface="Segoe UI"/>
              </a:rPr>
              <a:t>70%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7734" y="47853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7734" y="52867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F8FAFC"/>
                </a:solidFill>
                <a:latin typeface="Segoe UI"/>
              </a:rPr>
              <a:t>50%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82155" y="4785360"/>
            <a:ext cx="2029556" cy="1213104"/>
          </a:xfrm>
          <a:prstGeom prst="roundRect">
            <a:avLst>
              <a:gd name="adj" fmla="val 376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2155" y="5286756"/>
            <a:ext cx="20295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0B0F19"/>
                </a:solidFill>
                <a:latin typeface="Segoe UI"/>
              </a:rPr>
              <a:t>90%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Effort against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1984248"/>
            <a:ext cx="9774936" cy="3474720"/>
          </a:xfrm>
          <a:prstGeom prst="roundRect">
            <a:avLst>
              <a:gd name="adj" fmla="val 2631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185916" y="1984248"/>
            <a:ext cx="0" cy="347472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98448" y="3721608"/>
            <a:ext cx="9774936" cy="0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98448" y="5568696"/>
            <a:ext cx="9774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7099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IMPACT</a:t>
            </a:r>
          </a:p>
        </p:txBody>
      </p:sp>
      <p:sp>
        <p:nvSpPr>
          <p:cNvPr id="13" name="Oval 12"/>
          <p:cNvSpPr/>
          <p:nvPr/>
        </p:nvSpPr>
        <p:spPr>
          <a:xfrm>
            <a:off x="2948208" y="2847441"/>
            <a:ext cx="219456" cy="21945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4240" y="2838297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4512198" y="3681374"/>
            <a:ext cx="219456" cy="2194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8230" y="367223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B</a:t>
            </a:r>
          </a:p>
        </p:txBody>
      </p:sp>
      <p:sp>
        <p:nvSpPr>
          <p:cNvPr id="17" name="Oval 16"/>
          <p:cNvSpPr/>
          <p:nvPr/>
        </p:nvSpPr>
        <p:spPr>
          <a:xfrm>
            <a:off x="6271686" y="2430475"/>
            <a:ext cx="219456" cy="21945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7718" y="2421331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7640177" y="4098340"/>
            <a:ext cx="219456" cy="21945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6209" y="408919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D</a:t>
            </a:r>
          </a:p>
        </p:txBody>
      </p:sp>
      <p:sp>
        <p:nvSpPr>
          <p:cNvPr id="21" name="Oval 20"/>
          <p:cNvSpPr/>
          <p:nvPr/>
        </p:nvSpPr>
        <p:spPr>
          <a:xfrm>
            <a:off x="9106418" y="3333902"/>
            <a:ext cx="219456" cy="21945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2450" y="332475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DATA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Where the budget sits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578608"/>
            <a:ext cx="4489521" cy="10515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76371"/>
            <a:ext cx="427006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42%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9329" y="2578608"/>
            <a:ext cx="2565440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057" y="2976371"/>
            <a:ext cx="2345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24%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04769" y="2578608"/>
            <a:ext cx="2030973" cy="10515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14497" y="2976371"/>
            <a:ext cx="181151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19%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35743" y="2578608"/>
            <a:ext cx="1603400" cy="10515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45471" y="2976371"/>
            <a:ext cx="1383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0B0F19"/>
                </a:solidFill>
                <a:latin typeface="Segoe UI"/>
              </a:rPr>
              <a:t>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087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0416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4408" y="4087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2152" y="40416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Marketing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8" y="4087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40416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408736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40416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3" y="193852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172"/>
              </a:lnSpc>
            </a:pPr>
            <a:r>
              <a:rPr sz="2600" b="1" i="0">
                <a:solidFill>
                  <a:srgbClr val="60A5FA"/>
                </a:solidFill>
                <a:latin typeface="Segoe UI"/>
              </a:rPr>
              <a:t>100%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Work in flight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3380232" cy="530352"/>
          </a:xfrm>
          <a:prstGeom prst="roundRect">
            <a:avLst>
              <a:gd name="adj" fmla="val 13793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2807"/>
            <a:ext cx="2557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112" y="189280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41448"/>
            <a:ext cx="3380232" cy="1005840"/>
          </a:xfrm>
          <a:prstGeom prst="roundRect">
            <a:avLst>
              <a:gd name="adj" fmla="val 909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305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Refresh the glossary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305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Owner: Sam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4360" y="1755648"/>
            <a:ext cx="3380232" cy="530352"/>
          </a:xfrm>
          <a:prstGeom prst="roundRect">
            <a:avLst>
              <a:gd name="adj" fmla="val 13793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1" y="1892807"/>
            <a:ext cx="2557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7664" y="189280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441448"/>
            <a:ext cx="3380232" cy="1005840"/>
          </a:xfrm>
          <a:prstGeom prst="roundRect">
            <a:avLst>
              <a:gd name="adj" fmla="val 909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8951" y="2587752"/>
            <a:ext cx="305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Wire up the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951" y="2971800"/>
            <a:ext cx="305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Blocked on auth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4360" y="3575304"/>
            <a:ext cx="3380232" cy="1005840"/>
          </a:xfrm>
          <a:prstGeom prst="roundRect">
            <a:avLst>
              <a:gd name="adj" fmla="val 909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8951" y="3721608"/>
            <a:ext cx="305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Rewrite the intro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8951" y="4105656"/>
            <a:ext cx="305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In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8911" y="1755648"/>
            <a:ext cx="3380232" cy="530352"/>
          </a:xfrm>
          <a:prstGeom prst="roundRect">
            <a:avLst>
              <a:gd name="adj" fmla="val 13793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3503" y="1892807"/>
            <a:ext cx="2557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72216" y="189280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25"/>
              </a:lnSpc>
            </a:pPr>
            <a:r>
              <a:rPr sz="1250" b="1" i="0">
                <a:solidFill>
                  <a:srgbClr val="0B0F19"/>
                </a:solidFill>
                <a:latin typeface="Segoe UI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8911" y="2441448"/>
            <a:ext cx="3380232" cy="1005840"/>
          </a:xfrm>
          <a:prstGeom prst="roundRect">
            <a:avLst>
              <a:gd name="adj" fmla="val 9090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3503" y="2587752"/>
            <a:ext cx="305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Ship the new shell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3503" y="2971800"/>
            <a:ext cx="3051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1"/>
              </a:lnSpc>
            </a:pPr>
            <a:r>
              <a:rPr sz="1050" b="0" i="0">
                <a:solidFill>
                  <a:srgbClr val="93A1B8"/>
                </a:solidFill>
                <a:latin typeface="Segoe UI"/>
              </a:rPr>
              <a:t>Shipped Tuesday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PROCESS /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74900"/>
            <a:ext cx="3355848" cy="2292858"/>
          </a:xfrm>
          <a:prstGeom prst="roundRect">
            <a:avLst>
              <a:gd name="adj" fmla="val 5583"/>
            </a:avLst>
          </a:prstGeom>
          <a:solidFill>
            <a:srgbClr val="102B26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4922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34D399"/>
                </a:solidFill>
                <a:latin typeface="Segoe UI"/>
              </a:rPr>
              <a:t>Keep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42996"/>
            <a:ext cx="2843784" cy="18288"/>
          </a:xfrm>
          <a:prstGeom prst="rect">
            <a:avLst/>
          </a:prstGeom>
          <a:solidFill>
            <a:srgbClr val="2C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244748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144164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Short daily standup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57120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470617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Pairing on hard tickets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897655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797071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Weekly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2174900"/>
            <a:ext cx="3355848" cy="2292858"/>
          </a:xfrm>
          <a:prstGeom prst="roundRect">
            <a:avLst>
              <a:gd name="adj" fmla="val 5583"/>
            </a:avLst>
          </a:prstGeom>
          <a:solidFill>
            <a:srgbClr val="2E181B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244922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F87171"/>
                </a:solidFill>
                <a:latin typeface="Segoe UI"/>
              </a:rPr>
              <a:t>Stop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2584" y="2942996"/>
            <a:ext cx="2843784" cy="18288"/>
          </a:xfrm>
          <a:prstGeom prst="rect">
            <a:avLst/>
          </a:prstGeom>
          <a:solidFill>
            <a:srgbClr val="2C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72584" y="3244748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3144164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Long status meetings</a:t>
            </a:r>
          </a:p>
        </p:txBody>
      </p:sp>
      <p:sp>
        <p:nvSpPr>
          <p:cNvPr id="22" name="Oval 21"/>
          <p:cNvSpPr/>
          <p:nvPr/>
        </p:nvSpPr>
        <p:spPr>
          <a:xfrm>
            <a:off x="4672584" y="357120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3470617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Silent handoffs</a:t>
            </a:r>
          </a:p>
        </p:txBody>
      </p:sp>
      <p:sp>
        <p:nvSpPr>
          <p:cNvPr id="24" name="Oval 23"/>
          <p:cNvSpPr/>
          <p:nvPr/>
        </p:nvSpPr>
        <p:spPr>
          <a:xfrm>
            <a:off x="4672584" y="3897655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3797071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Endless grooming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2174900"/>
            <a:ext cx="3355848" cy="2292858"/>
          </a:xfrm>
          <a:prstGeom prst="roundRect">
            <a:avLst>
              <a:gd name="adj" fmla="val 5583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244922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Start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9327" y="2942996"/>
            <a:ext cx="2843784" cy="18288"/>
          </a:xfrm>
          <a:prstGeom prst="rect">
            <a:avLst/>
          </a:prstGeom>
          <a:solidFill>
            <a:srgbClr val="2C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39327" y="3244748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3144164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Written handovers</a:t>
            </a:r>
          </a:p>
        </p:txBody>
      </p:sp>
      <p:sp>
        <p:nvSpPr>
          <p:cNvPr id="31" name="Oval 30"/>
          <p:cNvSpPr/>
          <p:nvPr/>
        </p:nvSpPr>
        <p:spPr>
          <a:xfrm>
            <a:off x="8339327" y="3571201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3470617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One owner per work item</a:t>
            </a:r>
          </a:p>
        </p:txBody>
      </p:sp>
      <p:sp>
        <p:nvSpPr>
          <p:cNvPr id="33" name="Oval 32"/>
          <p:cNvSpPr/>
          <p:nvPr/>
        </p:nvSpPr>
        <p:spPr>
          <a:xfrm>
            <a:off x="8339327" y="3897655"/>
            <a:ext cx="82296" cy="822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797071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2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Mid-sprint check-in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Key 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6"/>
              </a:lnSpc>
            </a:pPr>
            <a:r>
              <a:rPr sz="1300" b="1" i="0">
                <a:solidFill>
                  <a:srgbClr val="F8FAFC"/>
                </a:solidFill>
                <a:latin typeface="Segoe UI"/>
              </a:rPr>
              <a:t>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58568"/>
            <a:ext cx="14643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306" y="2258568"/>
            <a:ext cx="14643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4804" y="2258568"/>
            <a:ext cx="14643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302" y="2258568"/>
            <a:ext cx="14643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9801" y="2258568"/>
            <a:ext cx="14643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7299" y="2258568"/>
            <a:ext cx="14643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4797" y="2258568"/>
            <a:ext cx="14643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Su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578608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633472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7306" y="2578608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0458" y="2633472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24804" y="2578608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7956" y="2633472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60A5F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956" y="2852927"/>
            <a:ext cx="1318042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Design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62302" y="2578608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5454" y="2633472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99801" y="2578608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2953" y="2633472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7299" y="2578608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0451" y="2633472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74797" y="2578608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7949" y="2633472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3343046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3397910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7306" y="3343046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60458" y="3397910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60A5FA"/>
                </a:solidFill>
                <a:latin typeface="Segoe U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60458" y="3617366"/>
            <a:ext cx="1318042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Vendor shortlist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24804" y="3343046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97956" y="3397910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62302" y="3343046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35454" y="3397910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99801" y="3343046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2953" y="3397910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60A5FA"/>
                </a:solidFill>
                <a:latin typeface="Segoe UI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2953" y="3617366"/>
            <a:ext cx="1318042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Budget sign-off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37299" y="3343046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10451" y="3397910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74797" y="3343046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7949" y="3397910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4107484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59" y="4162348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87306" y="4107484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60458" y="4162348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24804" y="4107484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97956" y="4162348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62302" y="4107484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35454" y="4162348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60A5FA"/>
                </a:solidFill>
                <a:latin typeface="Segoe UI"/>
              </a:rPr>
              <a:t>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35454" y="4381804"/>
            <a:ext cx="1318042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Pilot launch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99801" y="4107484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72953" y="4162348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19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37299" y="4107484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10451" y="4162348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74797" y="4107484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47949" y="4162348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21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9808" y="4871923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59" y="4926787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87306" y="4871923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60458" y="4926787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24804" y="4871923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97956" y="4926787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60A5FA"/>
                </a:solidFill>
                <a:latin typeface="Segoe UI"/>
              </a:rPr>
              <a:t>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97956" y="5146243"/>
            <a:ext cx="1318042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40"/>
              </a:lnSpc>
            </a:pPr>
            <a:r>
              <a:rPr sz="950" b="0" i="0">
                <a:solidFill>
                  <a:srgbClr val="CBD5E1"/>
                </a:solidFill>
                <a:latin typeface="Segoe UI"/>
              </a:rPr>
              <a:t>Steering committee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62302" y="4871923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35454" y="4926787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99801" y="4871923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72953" y="4926787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26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37299" y="4871923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10451" y="4926787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74797" y="4871923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47949" y="4926787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28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9808" y="5636361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59" y="5691225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29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287306" y="5636361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360458" y="5691225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30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24804" y="5636361"/>
            <a:ext cx="1464346" cy="691286"/>
          </a:xfrm>
          <a:prstGeom prst="roundRect">
            <a:avLst>
              <a:gd name="adj" fmla="val 7936"/>
            </a:avLst>
          </a:prstGeom>
          <a:solidFill>
            <a:srgbClr val="1B2740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97956" y="5691225"/>
            <a:ext cx="13180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9"/>
              </a:lnSpc>
            </a:pPr>
            <a:r>
              <a:rPr sz="950" b="1" i="0">
                <a:solidFill>
                  <a:srgbClr val="93A1B8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Who does 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52974" y="1755648"/>
            <a:ext cx="1548536" cy="457200"/>
          </a:xfrm>
          <a:prstGeom prst="roundRect">
            <a:avLst>
              <a:gd name="adj" fmla="val 1600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16982" y="1874519"/>
            <a:ext cx="142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56374" y="1755648"/>
            <a:ext cx="1548536" cy="457200"/>
          </a:xfrm>
          <a:prstGeom prst="roundRect">
            <a:avLst>
              <a:gd name="adj" fmla="val 1600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382" y="1874519"/>
            <a:ext cx="142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Eng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9775" y="1755648"/>
            <a:ext cx="1548536" cy="457200"/>
          </a:xfrm>
          <a:prstGeom prst="roundRect">
            <a:avLst>
              <a:gd name="adj" fmla="val 1600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3783" y="1874519"/>
            <a:ext cx="142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63175" y="1755648"/>
            <a:ext cx="1548536" cy="457200"/>
          </a:xfrm>
          <a:prstGeom prst="roundRect">
            <a:avLst>
              <a:gd name="adj" fmla="val 16000"/>
            </a:avLst>
          </a:prstGeom>
          <a:solidFill>
            <a:srgbClr val="15233F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7183" y="1874519"/>
            <a:ext cx="142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FAFC"/>
                </a:solidFill>
                <a:latin typeface="Segoe UI"/>
              </a:rPr>
              <a:t>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395728"/>
            <a:ext cx="40928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F8FAFC"/>
                </a:solidFill>
                <a:latin typeface="Segoe UI"/>
              </a:rPr>
              <a:t>Agree the scope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2974" y="2322576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974" y="2395728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7171"/>
                </a:solidFill>
                <a:latin typeface="Segoe UI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6374" y="2322576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374" y="2395728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9775" y="2322576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9775" y="2395728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BBF24"/>
                </a:solidFill>
                <a:latin typeface="Segoe UI"/>
              </a:rPr>
              <a:t>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63175" y="2322576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63175" y="2395728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93A1B8"/>
                </a:solidFill>
                <a:latin typeface="Segoe UI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962656"/>
            <a:ext cx="40928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F8FAFC"/>
                </a:solidFill>
                <a:latin typeface="Segoe UI"/>
              </a:rPr>
              <a:t>Build the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2974" y="2889504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2974" y="2962656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BBF24"/>
                </a:solidFill>
                <a:latin typeface="Segoe UI"/>
              </a:rPr>
              <a:t>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56374" y="2889504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374" y="2962656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7171"/>
                </a:solidFill>
                <a:latin typeface="Segoe UI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9775" y="2889504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9775" y="2962656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63175" y="2889504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63175" y="2962656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93A1B8"/>
                </a:solidFill>
                <a:latin typeface="Segoe UI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529584"/>
            <a:ext cx="40928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F8FAFC"/>
                </a:solidFill>
                <a:latin typeface="Segoe UI"/>
              </a:rPr>
              <a:t>Validate the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52974" y="3456432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2974" y="3529584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93A1B8"/>
                </a:solidFill>
                <a:latin typeface="Segoe UI"/>
              </a:rPr>
              <a:t>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374" y="3456432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374" y="3529584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BBF24"/>
                </a:solidFill>
                <a:latin typeface="Segoe UI"/>
              </a:rPr>
              <a:t>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59775" y="3456432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9775" y="3529584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7171"/>
                </a:solidFill>
                <a:latin typeface="Segoe UI"/>
              </a:rPr>
              <a:t>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63175" y="3456432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63175" y="3529584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096512"/>
            <a:ext cx="409285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3"/>
              </a:lnSpc>
            </a:pPr>
            <a:r>
              <a:rPr sz="1150" b="0" i="0">
                <a:solidFill>
                  <a:srgbClr val="F8FAFC"/>
                </a:solidFill>
                <a:latin typeface="Segoe UI"/>
              </a:rPr>
              <a:t>Run the weekly report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52974" y="4023360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52974" y="4096512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93A1B8"/>
                </a:solidFill>
                <a:latin typeface="Segoe UI"/>
              </a:rPr>
              <a:t>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56374" y="4023360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56374" y="4096512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9775" y="4023360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9775" y="4096512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BBF24"/>
                </a:solidFill>
                <a:latin typeface="Segoe UI"/>
              </a:rPr>
              <a:t>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63175" y="4023360"/>
            <a:ext cx="1548536" cy="493776"/>
          </a:xfrm>
          <a:prstGeom prst="roundRect">
            <a:avLst>
              <a:gd name="adj" fmla="val 9259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63175" y="4096512"/>
            <a:ext cx="1548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42"/>
              </a:lnSpc>
            </a:pPr>
            <a:r>
              <a:rPr sz="1100" b="1" i="0">
                <a:solidFill>
                  <a:srgbClr val="F87171"/>
                </a:solidFill>
                <a:latin typeface="Segoe UI"/>
              </a:rPr>
              <a:t>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" y="47000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473659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" y="473659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Responsible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70048" y="47000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70048" y="473659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9232" y="473659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Accountable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90288" y="47000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90288" y="473659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19472" y="473659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Consulted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10527" y="470001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93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7" y="473659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9"/>
              </a:lnSpc>
            </a:pPr>
            <a:r>
              <a:rPr sz="950" b="1" i="0">
                <a:solidFill>
                  <a:srgbClr val="0B0F19"/>
                </a:solidFill>
                <a:latin typeface="Segoe UI"/>
              </a:rPr>
              <a:t>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9712" y="473659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Informed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VISUAL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Anatomy of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409" y="2761488"/>
            <a:ext cx="3291840" cy="2377440"/>
          </a:xfrm>
          <a:prstGeom prst="roundRect">
            <a:avLst>
              <a:gd name="adj" fmla="val 6153"/>
            </a:avLst>
          </a:prstGeom>
          <a:solidFill>
            <a:srgbClr val="15233F"/>
          </a:solidFill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289" y="36576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SYSTEM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52927" y="2331720"/>
            <a:ext cx="740482" cy="1618488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8" y="1938528"/>
            <a:ext cx="2103120" cy="786384"/>
          </a:xfrm>
          <a:prstGeom prst="roundRect">
            <a:avLst>
              <a:gd name="adj" fmla="val 11627"/>
            </a:avLst>
          </a:prstGeom>
          <a:solidFill>
            <a:srgbClr val="141D33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02996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60A5FA"/>
                </a:solidFill>
                <a:latin typeface="Segoe UI"/>
              </a:rPr>
              <a:t>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22576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Where traffic enters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852927" y="3950208"/>
            <a:ext cx="740482" cy="301752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8" y="3858768"/>
            <a:ext cx="2103120" cy="786384"/>
          </a:xfrm>
          <a:prstGeom prst="roundRect">
            <a:avLst>
              <a:gd name="adj" fmla="val 11627"/>
            </a:avLst>
          </a:prstGeom>
          <a:solidFill>
            <a:srgbClr val="141D3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95020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22D3EE"/>
                </a:solidFill>
                <a:latin typeface="Segoe UI"/>
              </a:rPr>
              <a:t>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242816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Where the rules live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852927" y="3950208"/>
            <a:ext cx="740482" cy="2221992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8" y="5779008"/>
            <a:ext cx="2103120" cy="786384"/>
          </a:xfrm>
          <a:prstGeom prst="roundRect">
            <a:avLst>
              <a:gd name="adj" fmla="val 11627"/>
            </a:avLst>
          </a:prstGeom>
          <a:solidFill>
            <a:srgbClr val="141D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87044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34D399"/>
                </a:solidFill>
                <a:latin typeface="Segoe UI"/>
              </a:rPr>
              <a:t>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6163056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Where work waits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885249" y="2331720"/>
            <a:ext cx="2450775" cy="1618488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36024" y="1938528"/>
            <a:ext cx="2103120" cy="786384"/>
          </a:xfrm>
          <a:prstGeom prst="roundRect">
            <a:avLst>
              <a:gd name="adj" fmla="val 11627"/>
            </a:avLst>
          </a:prstGeom>
          <a:solidFill>
            <a:srgbClr val="141D3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202996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BBF24"/>
                </a:solidFill>
                <a:latin typeface="Segoe UI"/>
              </a:rPr>
              <a:t>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322576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Where state is kept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6885249" y="3950208"/>
            <a:ext cx="2450775" cy="2221992"/>
          </a:xfrm>
          <a:prstGeom prst="line">
            <a:avLst/>
          </a:prstGeom>
          <a:ln w="12700">
            <a:solidFill>
              <a:srgbClr val="2C3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336024" y="5779008"/>
            <a:ext cx="2103120" cy="786384"/>
          </a:xfrm>
          <a:prstGeom prst="roundRect">
            <a:avLst>
              <a:gd name="adj" fmla="val 11627"/>
            </a:avLst>
          </a:prstGeom>
          <a:solidFill>
            <a:srgbClr val="141D33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5870448"/>
            <a:ext cx="181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1" i="0">
                <a:solidFill>
                  <a:srgbClr val="F87171"/>
                </a:solidFill>
                <a:latin typeface="Segoe UI"/>
              </a:rPr>
              <a:t>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6163056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0" i="0">
                <a:solidFill>
                  <a:srgbClr val="93A1B8"/>
                </a:solidFill>
                <a:latin typeface="Segoe UI"/>
              </a:rPr>
              <a:t>Where proof is kept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EMPHASIS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What to take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Four things to remember when you leave the room.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242820"/>
            <a:ext cx="310896" cy="3108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7939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60A5FA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224532"/>
            <a:ext cx="10140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Start with the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553716"/>
            <a:ext cx="10140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Frame the ask before the detail.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111500"/>
            <a:ext cx="310896" cy="3108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4807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60A5FA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093212"/>
            <a:ext cx="10140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One number per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422396"/>
            <a:ext cx="10140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Anchor each claim in evidence.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3980179"/>
            <a:ext cx="310896" cy="3108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16755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60A5FA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961891"/>
            <a:ext cx="10140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Name the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291076"/>
            <a:ext cx="10140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Every action has one owner.</a:t>
            </a:r>
          </a:p>
        </p:txBody>
      </p:sp>
      <p:sp>
        <p:nvSpPr>
          <p:cNvPr id="21" name="Oval 20"/>
          <p:cNvSpPr/>
          <p:nvPr/>
        </p:nvSpPr>
        <p:spPr>
          <a:xfrm>
            <a:off x="749808" y="4848859"/>
            <a:ext cx="310896" cy="3108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885435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86"/>
              </a:lnSpc>
            </a:pPr>
            <a:r>
              <a:rPr sz="1300" b="1" i="0">
                <a:solidFill>
                  <a:srgbClr val="60A5FA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830572"/>
            <a:ext cx="101406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91"/>
              </a:lnSpc>
            </a:pPr>
            <a:r>
              <a:rPr sz="1550" b="1" i="0">
                <a:solidFill>
                  <a:srgbClr val="F8FAFC"/>
                </a:solidFill>
                <a:latin typeface="Segoe UI"/>
              </a:rPr>
              <a:t>Review in 30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5159756"/>
            <a:ext cx="10140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4"/>
              </a:lnSpc>
            </a:pPr>
            <a:r>
              <a:rPr sz="1200" b="0" i="0">
                <a:solidFill>
                  <a:srgbClr val="93A1B8"/>
                </a:solidFill>
                <a:latin typeface="Segoe UI"/>
              </a:rPr>
              <a:t>Put the date in the calendar now.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PEOPLE /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Who to contact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3392423" cy="1975103"/>
          </a:xfrm>
          <a:prstGeom prst="roundRect">
            <a:avLst>
              <a:gd name="adj" fmla="val 5555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993391"/>
            <a:ext cx="566928" cy="56692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57984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60A5FA"/>
                </a:solidFill>
                <a:latin typeface="Segoe UI"/>
              </a:rPr>
              <a:t>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5" y="2011680"/>
            <a:ext cx="22951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Alex Morgan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5" y="2322576"/>
            <a:ext cx="2295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43200"/>
            <a:ext cx="29352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alex@example.com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755648"/>
            <a:ext cx="3392423" cy="1975103"/>
          </a:xfrm>
          <a:prstGeom prst="roundRect">
            <a:avLst>
              <a:gd name="adj" fmla="val 5555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36007" y="1993391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7" y="2157984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22D3EE"/>
                </a:solidFill>
                <a:latin typeface="Segoe UI"/>
              </a:rPr>
              <a:t>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011680"/>
            <a:ext cx="22951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Jordan Lee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322576"/>
            <a:ext cx="2295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22D3EE"/>
                </a:solidFill>
                <a:latin typeface="Segoe UI"/>
              </a:rPr>
              <a:t>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2743200"/>
            <a:ext cx="29352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jordan@example.com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755648"/>
            <a:ext cx="3392423" cy="1975103"/>
          </a:xfrm>
          <a:prstGeom prst="roundRect">
            <a:avLst>
              <a:gd name="adj" fmla="val 5555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4463" y="1993391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2157984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7" y="2011680"/>
            <a:ext cx="22951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Sam Taylor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7" y="2322576"/>
            <a:ext cx="2295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34D399"/>
                </a:solidFill>
                <a:latin typeface="Segoe UI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2743200"/>
            <a:ext cx="29352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sam@example.com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986783"/>
            <a:ext cx="3392423" cy="1975103"/>
          </a:xfrm>
          <a:prstGeom prst="roundRect">
            <a:avLst>
              <a:gd name="adj" fmla="val 5555"/>
            </a:avLst>
          </a:prstGeom>
          <a:solidFill>
            <a:srgbClr val="141D33"/>
          </a:solidFill>
          <a:ln w="12700">
            <a:solidFill>
              <a:srgbClr val="2C3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552" y="4224527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389120"/>
            <a:ext cx="566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3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2495" y="4242816"/>
            <a:ext cx="22951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07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Robin Chen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2495" y="4553712"/>
            <a:ext cx="2295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BBF24"/>
                </a:solidFill>
                <a:latin typeface="Segoe UI"/>
              </a:rPr>
              <a:t>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974336"/>
            <a:ext cx="29352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93A1B8"/>
                </a:solidFill>
                <a:latin typeface="Segoe UI"/>
              </a:rPr>
              <a:t>robin@example.com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0_sof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29184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 i="0">
                <a:solidFill>
                  <a:srgbClr val="60A5FA"/>
                </a:solidFill>
                <a:latin typeface="Segoe UI"/>
              </a:rPr>
              <a:t>PRODUCT /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400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800" b="1" i="0">
                <a:solidFill>
                  <a:srgbClr val="F8FAFC"/>
                </a:solidFill>
                <a:latin typeface="Segoe UI"/>
              </a:rPr>
              <a:t>Why teams switch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426464"/>
            <a:ext cx="658368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65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20"/>
              </a:lnSpc>
            </a:pPr>
            <a:r>
              <a:rPr sz="1000" b="1" i="0">
                <a:solidFill>
                  <a:srgbClr val="93A1B8"/>
                </a:solidFill>
                <a:latin typeface="Segoe UI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106893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93A1B8"/>
                </a:solidFill>
                <a:latin typeface="Segoe UI"/>
              </a:rPr>
              <a:t>Three reasons this keeps coming up in every review.</a:t>
            </a:r>
          </a:p>
        </p:txBody>
      </p:sp>
      <p:sp>
        <p:nvSpPr>
          <p:cNvPr id="9" name="Oval 8"/>
          <p:cNvSpPr/>
          <p:nvPr/>
        </p:nvSpPr>
        <p:spPr>
          <a:xfrm>
            <a:off x="2010156" y="2279396"/>
            <a:ext cx="768096" cy="7680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0156" y="2279396"/>
            <a:ext cx="768096" cy="768096"/>
          </a:xfrm>
          <a:prstGeom prst="ellipse">
            <a:avLst/>
          </a:prstGeom>
          <a:noFill/>
          <a:ln w="1778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0156" y="2498852"/>
            <a:ext cx="768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4"/>
              </a:lnSpc>
            </a:pPr>
            <a:r>
              <a:rPr sz="1700" b="1" i="0">
                <a:solidFill>
                  <a:srgbClr val="60A5FA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48660"/>
            <a:ext cx="3288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Less 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669284"/>
            <a:ext cx="32887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Templates carry the structure for you.</a:t>
            </a:r>
          </a:p>
        </p:txBody>
      </p:sp>
      <p:sp>
        <p:nvSpPr>
          <p:cNvPr id="14" name="Oval 13"/>
          <p:cNvSpPr/>
          <p:nvPr/>
        </p:nvSpPr>
        <p:spPr>
          <a:xfrm>
            <a:off x="5710427" y="2279396"/>
            <a:ext cx="768096" cy="7680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0427" y="2279396"/>
            <a:ext cx="768096" cy="768096"/>
          </a:xfrm>
          <a:prstGeom prst="ellipse">
            <a:avLst/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0427" y="2498852"/>
            <a:ext cx="768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4"/>
              </a:lnSpc>
            </a:pPr>
            <a:r>
              <a:rPr sz="1700" b="1" i="0">
                <a:solidFill>
                  <a:srgbClr val="22D3EE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80" y="3248660"/>
            <a:ext cx="3288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Faster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3669284"/>
            <a:ext cx="32887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One link replaces four versions.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9410700" y="2279396"/>
            <a:ext cx="768096" cy="7680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0700" y="2279396"/>
            <a:ext cx="768096" cy="768096"/>
          </a:xfrm>
          <a:prstGeom prst="ellipse">
            <a:avLst/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0700" y="2498852"/>
            <a:ext cx="768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74"/>
              </a:lnSpc>
            </a:pPr>
            <a:r>
              <a:rPr sz="1700" b="1" i="0">
                <a:solidFill>
                  <a:srgbClr val="34D399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0351" y="3248660"/>
            <a:ext cx="3288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2"/>
              </a:lnSpc>
            </a:pPr>
            <a:r>
              <a:rPr sz="1600" b="1" i="0">
                <a:solidFill>
                  <a:srgbClr val="F8FAFC"/>
                </a:solidFill>
                <a:latin typeface="Segoe UI"/>
              </a:rPr>
              <a:t>Cleaner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0351" y="3669284"/>
            <a:ext cx="328879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</a:pPr>
            <a:r>
              <a:rPr sz="1250" b="0" i="0">
                <a:solidFill>
                  <a:srgbClr val="CBD5E1"/>
                </a:solidFill>
                <a:latin typeface="Segoe UI"/>
              </a:rPr>
              <a:t>Layouts that already respect hierarchy.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